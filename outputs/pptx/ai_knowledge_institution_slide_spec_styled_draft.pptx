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</a:t>
            </a:r>
          </a:p>
          <a:p>
            <a:r>
              <a:t>layout_type: 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"검색창이 아니라 답안지가 된 AI",</a:t>
            </a:r>
          </a:p>
          <a:p>
            <a:r>
              <a:t>  "학교와 박물관은 이제 무엇을 가르쳐야 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[제목] dry run representative outline. 이미지 후보: 검색창/천문관/관람객 대비 이미지. [이미지] 필요 시 별도 선정.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"모르는 것을 물으면 바로 답이 나오고, 검색 결과를 여러 개 열어보던 시간…"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"AI는 접근성과 개인화 가능성도 넓힐 수 있다",</a:t>
            </a:r>
          </a:p>
          <a:p>
            <a:r>
              <a:t>  "다만 편리함이 곧 배움이라는 뜻은 아니므로, 정보 탐색 과정의 변화로 조심스럽게 다룬다"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Microsoft Research — generative AI and information diversity. [반대관점] UNESCO — AI can support access/personalized learning if rights and safeguards are respected. [주의] 사용률/효과 수치 단정 금지.</a:t>
            </a:r>
          </a:p>
          <a:p>
            <a:r>
              <a:t>[overflow_notes]</a:t>
            </a:r>
          </a:p>
          <a:p>
            <a:r>
              <a:t>AI는 접근성과 개인화 가능성도 넓힐 수 있다</a:t>
            </a:r>
          </a:p>
          <a:p>
            <a:r>
              <a:t>다만 편리함이 곧 배움이라는 뜻은 아니므로, 정보 탐색 과정의 변화로 조심스럽게 다룬다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[source_ref] source_context | Source URL carried from Anny storyline. | https://www.unesco.org/en/articles/ai-and-education-protecting-rights-learners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AI는 접근성과 개인화 가능성도 넓힐 수 있다</a:t>
            </a:r>
          </a:p>
          <a:p>
            <a:r>
              <a:t>다만 편리함이 곧 배움이라는 뜻은 아니므로, 정보 탐색 과정의 변화로 조심스럽게 다룬다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 보도는 Royal Observatory 쪽 경고를 AI 의존과 인간…"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메시지는 AI 금지가 아니라, 답을 받는 사람이 무엇을 배워야 하느냐는 질문으로 읽는다",</a:t>
            </a:r>
          </a:p>
          <a:p>
            <a:r>
              <a:t>  "단일 기관 사례이므로 모든 지식기관의 공식 입장처럼 일반화하지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BBC / Royal Observatory article. [주의] Royal Observatory 발언을 전체 교육계 입장으로 확대하지 말 것.</a:t>
            </a:r>
          </a:p>
          <a:p>
            <a:r>
              <a:t>[overflow_notes]</a:t>
            </a:r>
          </a:p>
          <a:p>
            <a:r>
              <a:t>이 메시지는 AI 금지가 아니라, 답을 받는 사람이 무엇을 배워야 하느냐는 질문으로 읽는다</a:t>
            </a:r>
          </a:p>
          <a:p>
            <a:r>
              <a:t>단일 기관 사례이므로 모든 지식기관의 공식 입장처럼 일반화하지 않는다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이 메시지는 AI 금지가 아니라, 답을 받는 사람이 무엇을 배워야 하느냐는 질문으로 읽는다</a:t>
            </a:r>
          </a:p>
          <a:p>
            <a:r>
              <a:t>단일 기관 사례이므로 모든 지식기관의 공식 입장처럼 일반화하지 않는다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4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 즉답은 그 과정을 도와줄 수도, 일부 건너뛰게 만들 수도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"천문학은 답 하나보다 관찰·추론·검증의 과정이 중요한 분야다",</a:t>
            </a:r>
          </a:p>
          <a:p>
            <a:r>
              <a:t>  "여기서는 사실 증명보다 방송용 문제 제기: 도구가 답을 줄 때 사람의 관찰은 어디에 남는가"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BBC / Royal Observatory article. [보조] Microsoft Research — AI-mediated inquiry and information diversity. [주의] 천문학 비유는 구조 비유로 사용.</a:t>
            </a:r>
          </a:p>
          <a:p>
            <a:r>
              <a:t>[overflow_notes]</a:t>
            </a:r>
          </a:p>
          <a:p>
            <a:r>
              <a:t>천문학은 답 하나보다 관찰·추론·검증의 과정이 중요한 분야다</a:t>
            </a:r>
          </a:p>
          <a:p>
            <a:r>
              <a:t>여기서는 사실 증명보다 방송용 문제 제기: 도구가 답을 줄 때 사람의 관찰은 어디에 남는가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천문학은 답 하나보다 관찰·추론·검증의 과정이 중요한 분야다</a:t>
            </a:r>
          </a:p>
          <a:p>
            <a:r>
              <a:t>여기서는 사실 증명보다 방송용 문제 제기: 도구가 답을 줄 때 사람의 관찰은 어디에 남는가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5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"학교, 박물관, 도서관, 과학관도 AI가 설명을 대신하는 시대의 질문을 마…"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"UNESCO와 OECD 자료는 AI 교육을 단순 도구 사용이 아니라 역량·원칙의 문제로 다룬다",</a:t>
            </a:r>
          </a:p>
          <a:p>
            <a:r>
              <a:t>  "따라서 핵심은 답 제공 경쟁이 아니라 질문·검증·맥락을 가르치는 역할 변화다"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"UNESCO",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UNESCO AI Competency Framework, OECD Digital Education Outlook. [주의] 역할 변화는 방향성으로만 표현.</a:t>
            </a:r>
          </a:p>
          <a:p>
            <a:r>
              <a:t>[overflow_notes]</a:t>
            </a:r>
          </a:p>
          <a:p>
            <a:r>
              <a:t>UNESCO와 OECD 자료는 AI 교육을 단순 도구 사용이 아니라 역량·원칙의 문제로 다룬다</a:t>
            </a:r>
          </a:p>
          <a:p>
            <a:r>
              <a:t>따라서 핵심은 답 제공 경쟁이 아니라 질문·검증·맥락을 가르치는 역할 변화다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UNESCO와 OECD 자료는 AI 교육을 단순 도구 사용이 아니라 역량·원칙의 문제로 다룬다</a:t>
            </a:r>
          </a:p>
          <a:p>
            <a:r>
              <a:t>따라서 핵심은 답 제공 경쟁이 아니라 질문·검증·맥락을 가르치는 역할 변화다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"UNESCO",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6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아는 능력인가",</a:t>
            </a:r>
          </a:p>
          <a:p>
            <a:r>
              <a:t>  "답을 의심하고 확인하는 능력인가",</a:t>
            </a:r>
          </a:p>
          <a:p>
            <a:r>
              <a:t>  "혹은 더 좋은 질문을 만드는 능력인가"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섹션 전환용 질문. 별도 출처를 강제하지 않음.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7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7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주면, 사람은 무엇을 덜 하게 될까"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학습 효과 단정 금지. 보조 연구 필요.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8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8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"검색어를 바꿔보고, 여러 결과를 비교하고, 출처를 고르는 과정이 있었다"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 과정은 느리지만 정보 탐색의 다양성과 판단 훈련을 남긴다",</a:t>
            </a:r>
          </a:p>
          <a:p>
            <a:r>
              <a:t>  "Microsoft Research 자료는 generative AI가 정보 탐색 다양성에 어떤 영향을 줄 수 있는지 문제를 제기한다"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Microsoft Research — information diversity in online information seeking. [주의] 과거 검색을 낭만화하지 말 것.</a:t>
            </a:r>
          </a:p>
          <a:p>
            <a:r>
              <a:t>[overflow_notes]</a:t>
            </a:r>
          </a:p>
          <a:p>
            <a:r>
              <a:t>이 과정은 느리지만 정보 탐색의 다양성과 판단 훈련을 남긴다</a:t>
            </a:r>
          </a:p>
          <a:p>
            <a:r>
              <a:t>Microsoft Research 자료는 generative AI가 정보 탐색 다양성에 어떤 영향을 줄 수 있는지 문제를 제기한다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이 과정은 느리지만 정보 탐색의 다양성과 판단 훈련을 남긴다</a:t>
            </a:r>
          </a:p>
          <a:p>
            <a:r>
              <a:t>Microsoft Research 자료는 generative AI가 정보 탐색 다양성에 어떤 영향을 줄 수 있는지 문제를 제기한다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9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9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점: 빠르고, 친절하고, 맥락을 이어준다"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"걱정되는 점: 비교·검증·실패의 경험이 줄어들 가능성이 있다",</a:t>
            </a:r>
          </a:p>
          <a:p>
            <a:r>
              <a:t>  "중요: 이것이 곧 학습 저하라는 단정은 아니며, 설계와 교육 원칙에 따라 달라질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https://www.oecd.org/en/publications/oecd-digital-education-outlook-2026_062a7394-en.html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Microsoft Research, OECD Digital Education Outlook. [주의] 교육 효과/인지 저하 단정 금지.</a:t>
            </a:r>
          </a:p>
          <a:p>
            <a:r>
              <a:t>[overflow_notes]</a:t>
            </a:r>
          </a:p>
          <a:p>
            <a:r>
              <a:t>걱정되는 점: 비교·검증·실패의 경험이 줄어들 가능성이 있다</a:t>
            </a:r>
          </a:p>
          <a:p>
            <a:r>
              <a:t>중요: 이것이 곧 학습 저하라는 단정은 아니며, 설계와 교육 원칙에 따라 달라질 수 있다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걱정되는 점: 비교·검증·실패의 경험이 줄어들 가능성이 있다</a:t>
            </a:r>
          </a:p>
          <a:p>
            <a:r>
              <a:t>중요: 이것이 곧 학습 저하라는 단정은 아니며, 설계와 교육 원칙에 따라 달라질 수 있다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10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10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"틀린 가설을 세워보고, 다른 자료와 부딪히고, 왜 틀렸는지 고치는 시간이…"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 역량 교육은 답을 받는 법보다 질문하고 평가하고 책임 있게 쓰는 법으로 확장될 필요가 있다",</a:t>
            </a:r>
          </a:p>
          <a:p>
            <a:r>
              <a:t>  "이 주장은 연구·프레임워크에 기대되, 인지 효과를 확정적으로 말하지 않는다"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https://www.unesco.org/en/articles/ai-competency-framework-students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Microsoft Research, UNESCO AI Competency Framework. [주의] 사고 과정 일반론은 cautious wording 유지.</a:t>
            </a:r>
          </a:p>
          <a:p>
            <a:r>
              <a:t>[overflow_notes]</a:t>
            </a:r>
          </a:p>
          <a:p>
            <a:r>
              <a:t>AI 역량 교육은 답을 받는 법보다 질문하고 평가하고 책임 있게 쓰는 법으로 확장될 필요가 있다</a:t>
            </a:r>
          </a:p>
          <a:p>
            <a:r>
              <a:t>이 주장은 연구·프레임워크에 기대되, 인지 효과를 확정적으로 말하지 않는다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AI 역량 교육은 답을 받는 법보다 질문하고 평가하고 책임 있게 쓰는 법으로 확장될 필요가 있다</a:t>
            </a:r>
          </a:p>
          <a:p>
            <a:r>
              <a:t>이 주장은 연구·프레임워크에 기대되, 인지 효과를 확정적으로 말하지 않는다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11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"Royal Observatory 관련 보도는 AI 의존 경고를 인간 지식과…"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"이를 AI 반대가 아니라 질문과 검증의 필요성을 상기시키는 장면으로 사용한다",</a:t>
            </a:r>
          </a:p>
          <a:p>
            <a:r>
              <a:t>  "단일 기사 기반 맥락이므로 표현은 보수적으로 유지한다"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BBC / Royal Observatory article. [주의] 단일 기사 기반이므로 발언 맥락 최종 확인 필요.</a:t>
            </a:r>
          </a:p>
          <a:p>
            <a:r>
              <a:t>[overflow_notes]</a:t>
            </a:r>
          </a:p>
          <a:p>
            <a:r>
              <a:t>이를 AI 반대가 아니라 질문과 검증의 필요성을 상기시키는 장면으로 사용한다</a:t>
            </a:r>
          </a:p>
          <a:p>
            <a:r>
              <a:t>단일 기사 기반 맥락이므로 표현은 보수적으로 유지한다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이를 AI 반대가 아니라 질문과 검증의 필요성을 상기시키는 장면으로 사용한다</a:t>
            </a:r>
          </a:p>
          <a:p>
            <a:r>
              <a:t>단일 기사 기반 맥락이므로 표현은 보수적으로 유지한다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12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12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"예전엔 누가 더 잘 찾느냐의 싸움이었다면",</a:t>
            </a:r>
          </a:p>
          <a:p>
            <a:r>
              <a:t>  "이제는 누가 더 좋은 질문을 하느냐의 싸움일 수 있다",</a:t>
            </a:r>
          </a:p>
          <a:p>
            <a:r>
              <a:t>  "AI가 정답을 말할수록, 사람은 질문을 더 잘해야 한다"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 후보. 사실 주장으로 쓰지 않음.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13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13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"답을 알려주는 곳에서, 질문을 훈련하는 곳으로"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학교/박물관/천문관 공식 사례 확인 필요.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14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많은 정보를 설명할 수 있다면, 수업은 무엇을 외웠나보다 어떻게 확…"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"OECD와 UNESCO 자료는 AI 교육을 교수 원칙과 학생 역량의 문제로 다룬다",</a:t>
            </a:r>
          </a:p>
          <a:p>
            <a:r>
              <a:t>  "다만 교육 효과는 아직 단정하지 않고, 수업 설계의 과제로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https://www.unesco.org/en/articles/ai-competency-framework-students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"OECD",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OECD Digital Education Outlook, UNESCO AI Competency Framework. [주의] 교육 효과/인지 변화는 needs_fact_check 유지.</a:t>
            </a:r>
          </a:p>
          <a:p>
            <a:r>
              <a:t>[overflow_notes]</a:t>
            </a:r>
          </a:p>
          <a:p>
            <a:r>
              <a:t>OECD와 UNESCO 자료는 AI 교육을 교수 원칙과 학생 역량의 문제로 다룬다</a:t>
            </a:r>
          </a:p>
          <a:p>
            <a:r>
              <a:t>다만 교육 효과는 아직 단정하지 않고, 수업 설계의 과제로 남긴다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OECD와 UNESCO 자료는 AI 교육을 교수 원칙과 학생 역량의 문제로 다룬다</a:t>
            </a:r>
          </a:p>
          <a:p>
            <a:r>
              <a:t>다만 교육 효과는 아직 단정하지 않고, 수업 설계의 과제로 남긴다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"OECD",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15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15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"설명 자체는 AI도 해줄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"그렇다면 박물관·과학관은 맥락, 경험, 질문, 토론을 더 강조해야 할 수 있다",</a:t>
            </a:r>
          </a:p>
          <a:p>
            <a:r>
              <a:t>  "국립과학관 AI 전시 사례는 기술을 체험형 맥락으로 보여주는 보조 사례로만 사용한다"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https://www.science.go.kr/eps/cntnts/772/moveCntnts.do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"UNESCO",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UNESCO AI Competency Framework. [기관사례] National Science Museum AI exhibition page. [주의] 모든 박물관 변화로 일반화 금지.</a:t>
            </a:r>
          </a:p>
          <a:p>
            <a:r>
              <a:t>[overflow_notes]</a:t>
            </a:r>
          </a:p>
          <a:p>
            <a:r>
              <a:t>그렇다면 박물관·과학관은 맥락, 경험, 질문, 토론을 더 강조해야 할 수 있다</a:t>
            </a:r>
          </a:p>
          <a:p>
            <a:r>
              <a:t>국립과학관 AI 전시 사례는 기술을 체험형 맥락으로 보여주는 보조 사례로만 사용한다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[source_ref] source_context | Source URL carried from Anny storyline. | https://www.science.go.kr/eps/cntnts/772/moveCntnts.do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그렇다면 박물관·과학관은 맥락, 경험, 질문, 토론을 더 강조해야 할 수 있다</a:t>
            </a:r>
          </a:p>
          <a:p>
            <a:r>
              <a:t>국립과학관 AI 전시 사례는 기술을 체험형 맥락으로 보여주는 보조 사례로만 사용한다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"UNESCO",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"single_source_dependency",</a:t>
            </a:r>
          </a:p>
          <a:p>
            <a:r>
              <a:t>  "copyright_image_risk"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"single_source_dependency",</a:t>
            </a:r>
          </a:p>
          <a:p>
            <a:r>
              <a:t>  "copyright_image_risk"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16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16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"AI는 별자리 정보를 바로 줄 수 있다"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"하지만 밤하늘을 관찰하고, 위치를 추정하고, 계절과 시간을 연결하는 경험은 다르다",</a:t>
            </a:r>
          </a:p>
          <a:p>
            <a:r>
              <a:t>  "천문관 비유는 정보 전달보다 보는 법과 질문하는 법을 강조하기 위한 방송용 구조다"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https://www.science.go.kr/eps/cntnts/772/moveCntnts.do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[내용] BBC / Royal Observatory article. [기관맥락] science museum/observatory education context. [주의] 비유이지 사실 증명 아님.</a:t>
            </a:r>
          </a:p>
          <a:p>
            <a:r>
              <a:t>[overflow_notes]</a:t>
            </a:r>
          </a:p>
          <a:p>
            <a:r>
              <a:t>하지만 밤하늘을 관찰하고, 위치를 추정하고, 계절과 시간을 연결하는 경험은 다르다</a:t>
            </a:r>
          </a:p>
          <a:p>
            <a:r>
              <a:t>천문관 비유는 정보 전달보다 보는 법과 질문하는 법을 강조하기 위한 방송용 구조다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[source_ref] source_context | Source URL carried from Anny storyline. | https://www.science.go.kr/eps/cntnts/772/moveCntnts.do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하지만 밤하늘을 관찰하고, 위치를 추정하고, 계절과 시간을 연결하는 경험은 다르다</a:t>
            </a:r>
          </a:p>
          <a:p>
            <a:r>
              <a:t>천문관 비유는 정보 전달보다 보는 법과 질문하는 법을 강조하기 위한 방송용 구조다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17</a:t>
            </a:r>
          </a:p>
          <a:p>
            <a:r>
              <a:t>layout_type: chart_placeholder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17</a:t>
            </a:r>
          </a:p>
          <a:p>
            <a:r>
              <a:t>]</a:t>
            </a:r>
          </a:p>
          <a:p>
            <a:r>
              <a:t>proof_object_type: chart</a:t>
            </a:r>
          </a:p>
          <a:p>
            <a:r>
              <a:t>proof_object_required: True</a:t>
            </a:r>
          </a:p>
          <a:p>
            <a:r>
              <a:t>proof_object_screen_position: full_width_chart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"방송용 완성본에는 AI 검색 사용, 학교 AI 지침, 과학관·박물관 AI 활용 사례가 더 필요하다",</a:t>
            </a:r>
          </a:p>
          <a:p>
            <a:r>
              <a:t>  "이번 enriched dry run은 OECD·정책브리핑·과학관 사례로 1차 틀만 보강한다",</a:t>
            </a:r>
          </a:p>
          <a:p>
            <a:r>
              <a:t>  "정량 수치가 필요한 문장은 여전히 fact check 대상으로 남긴다"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"chart_candidate",</a:t>
            </a:r>
          </a:p>
          <a:p>
            <a:r>
              <a:t>  "description": "",</a:t>
            </a:r>
          </a:p>
          <a:p>
            <a:r>
              <a:t>  "source_note": "https://www.oecd.org/en/publications/oecd-digital-education-outlook-2026_062a7394-en.html",</a:t>
            </a:r>
          </a:p>
          <a:p>
            <a:r>
              <a:t>  "copyright_risk": false,</a:t>
            </a:r>
          </a:p>
          <a:p>
            <a:r>
              <a:t>  "manual_check_required": true,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"required": true,</a:t>
            </a:r>
          </a:p>
          <a:p>
            <a:r>
              <a:t>  "screen_position": "full_width_chart",</a:t>
            </a:r>
          </a:p>
          <a:p>
            <a:r>
              <a:t>  "display_label": "[차트]",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true,</a:t>
            </a:r>
          </a:p>
          <a:p>
            <a:r>
              <a:t>  "source_name": "OECD",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"이 부분은 아직 숫자가 필요하다",</a:t>
            </a:r>
          </a:p>
          <a:p>
            <a:r>
              <a:t>  "chart_source_label": "(출처: OECD)",</a:t>
            </a:r>
          </a:p>
          <a:p>
            <a:r>
              <a:t>  "data_hint": "방송용 완성본에는 AI 검색 사용, 학교 AI 지침, 과학관·박물관 AI 활용 사례가 더 필요하다; 이번 enriched dry run은 OECD·정책브리핑·과학관 사례로 1차 틀만 보강한다; 정량 수치가 필요한 문장은 여전히 fact check 대상으로 남긴다",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Chart/table data must be manually designed before broadcast. Manual fact-check required before broadcast.</a:t>
            </a:r>
          </a:p>
          <a:p/>
          <a:p>
            <a:r>
              <a:t>speaker_notes:</a:t>
            </a:r>
          </a:p>
          <a:p>
            <a:r>
              <a:t>[근거] OECD, 정책브리핑, National Science Museum. [주의] 숫자/통계는 추가 확인 필요.</a:t>
            </a:r>
          </a:p>
          <a:p>
            <a:r>
              <a:t>[overflow_notes]</a:t>
            </a:r>
          </a:p>
          <a:p>
            <a:r>
              <a:t>방송용 완성본에는 AI 검색 사용, 학교 AI 지침, 과학관·박물관 AI 활용 사례가 더 필요하다</a:t>
            </a:r>
          </a:p>
          <a:p>
            <a:r>
              <a:t>이번 enriched dry run은 OECD·정책브리핑·과학관 사례로 1차 틀만 보강한다</a:t>
            </a:r>
          </a:p>
          <a:p>
            <a:r>
              <a:t>정량 수치가 필요한 문장은 여전히 fact check 대상으로 남긴다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[source_ref] source_context | Source URL carried from Anny storyline. | https://www.korea.kr/news/policyNewsView.do?newsId=148912089</a:t>
            </a:r>
          </a:p>
          <a:p>
            <a:r>
              <a:t>[source_ref] source_context | Source URL carried from Anny storyline. | https://www.science.go.kr/eps/cntnts/772/moveCntnts.do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방송용 완성본에는 AI 검색 사용, 학교 AI 지침, 과학관·박물관 AI 활용 사례가 더 필요하다</a:t>
            </a:r>
          </a:p>
          <a:p>
            <a:r>
              <a:t>이번 enriched dry run은 OECD·정책브리핑·과학관 사례로 1차 틀만 보강한다</a:t>
            </a:r>
          </a:p>
          <a:p>
            <a:r>
              <a:t>정량 수치가 필요한 문장은 여전히 fact check 대상으로 남긴다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"chart",</a:t>
            </a:r>
          </a:p>
          <a:p>
            <a:r>
              <a:t>  "screen_position": "full_width_chart",</a:t>
            </a:r>
          </a:p>
          <a:p>
            <a:r>
              <a:t>  "source_name": "OECD",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"https://www.oecd.org/en/publications/oecd-digital-education-outlook-2026_062a7394-en.html",</a:t>
            </a:r>
          </a:p>
          <a:p>
            <a:r>
              <a:t>  "image_url": null,</a:t>
            </a:r>
          </a:p>
          <a:p>
            <a:r>
              <a:t>  "chart_title": "이 부분은 아직 숫자가 필요하다",</a:t>
            </a:r>
          </a:p>
          <a:p>
            <a:r>
              <a:t>  "chart_source_label": "(출처: OECD)",</a:t>
            </a:r>
          </a:p>
          <a:p>
            <a:r>
              <a:t>  "data_hint": "방송용 완성본에는 AI 검색 사용, 학교 AI 지침, 과학관·박물관 AI 활용 사례가 더 필요하다; 이번 enriched dry run은 OECD·정책브리핑·과학관 사례로 1차 틀만 보강한다; 정량 수치가 필요한 문장은 여전히 fact check 대상으로 남긴다",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true,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Chart/table data must be manually designed before broadcast. 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18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18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"한국에서도 AI 디지털교과서와 AI 체험 전시가 이미 정책·기관 사례로 등…"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"다만 한국 사례는 메인 논지의 증명이 아니라 후반 보조 연결로 사용한다",</a:t>
            </a:r>
          </a:p>
          <a:p>
            <a:r>
              <a:t>  "핵심 질문은 한국도 결국 AI를 금지할지보다 어떻게 다룰지라는 쪽으로 옮겨갈 수 있다는 점이다"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https://www.korea.kr/news/policyNewsView.do?newsId=148912089</a:t>
            </a:r>
          </a:p>
          <a:p>
            <a:r>
              <a:t>- https://www.sciencecenter.or.kr/kor/menu/sub.do?menuId=17_275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"https://www.sciencecenter.or.kr/kor/menu/sub.do?menuId=17_275",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"https://www.korea.kr/news/policyNewsView.do?newsId=148912089",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"정책브리핑",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[국내연결] 정책브리핑 AI 디지털교과서, 국립광주과학관 인공지능관. [주의] 한국 사례 과확장 금지.</a:t>
            </a:r>
          </a:p>
          <a:p>
            <a:r>
              <a:t>[overflow_notes]</a:t>
            </a:r>
          </a:p>
          <a:p>
            <a:r>
              <a:t>다만 한국 사례는 메인 논지의 증명이 아니라 후반 보조 연결로 사용한다</a:t>
            </a:r>
          </a:p>
          <a:p>
            <a:r>
              <a:t>핵심 질문은 한국도 결국 AI를 금지할지보다 어떻게 다룰지라는 쪽으로 옮겨갈 수 있다는 점이다</a:t>
            </a:r>
          </a:p>
          <a:p>
            <a:r>
              <a:t>[source_ref] source_context | Source URL carried from Anny storyline. | https://www.korea.kr/news/policyNewsView.do?newsId=148912089</a:t>
            </a:r>
          </a:p>
          <a:p>
            <a:r>
              <a:t>[source_ref] source_context | Source URL carried from Anny storyline. | https://www.sciencecenter.or.kr/kor/menu/sub.do?menuId=17_275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다만 한국 사례는 메인 논지의 증명이 아니라 후반 보조 연결로 사용한다</a:t>
            </a:r>
          </a:p>
          <a:p>
            <a:r>
              <a:t>핵심 질문은 한국도 결국 AI를 금지할지보다 어떻게 다룰지라는 쪽으로 옮겨갈 수 있다는 점이다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"https://www.sciencecenter.or.kr/kor/menu/sub.do?menuId=17_275",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"정책브리핑",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"https://www.korea.kr/news/policyNewsView.do?newsId=148912089",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19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19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"AI가 답을 주는 건 막기 어렵다"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"그렇다면 사람에게 남겨야 할 것은 답이 아니라 과정일 수 있다",</a:t>
            </a:r>
          </a:p>
          <a:p>
            <a:r>
              <a:t>  "보고, 의심하고, 질문하고, 다시 확인하는 습관이 지식기관의 교육 목표가 될 수 있다"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"https://www.microsoft.com/en-us/research/publication/from-searchable-to-non-searchable-generative-ai-and-information-diversity-in-online-information-seeking/",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[해석] Microsoft Research의 정보탐색 다양성 문제의식과 연결. [주의] 결론 후보로만 사용.</a:t>
            </a:r>
          </a:p>
          <a:p>
            <a:r>
              <a:t>[overflow_notes]</a:t>
            </a:r>
          </a:p>
          <a:p>
            <a:r>
              <a:t>그렇다면 사람에게 남겨야 할 것은 답이 아니라 과정일 수 있다</a:t>
            </a:r>
          </a:p>
          <a:p>
            <a:r>
              <a:t>보고, 의심하고, 질문하고, 다시 확인하는 습관이 지식기관의 교육 목표가 될 수 있다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[overflow_notes]</a:t>
            </a:r>
          </a:p>
          <a:p>
            <a:r>
              <a:t>그렇다면 사람에게 남겨야 할 것은 답이 아니라 과정일 수 있다</a:t>
            </a:r>
          </a:p>
          <a:p>
            <a:r>
              <a:t>보고, 의심하고, 질문하고, 다시 확인하는 습관이 지식기관의 교육 목표가 될 수 있다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"Microsoft Research",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"https://www.microsoft.com/en-us/research/publication/from-searchable-to-non-searchable-generative-ai-and-information-diversity-in-online-information-seeking/",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20</a:t>
            </a:r>
          </a:p>
          <a:p>
            <a:r>
              <a:t>layout_type: section_title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20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"마지막 질문은 찬반이 아니라 교육의 역할"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[섹션] AI 비판/찬양으로 단순화하지 말 것.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21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21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"학생도, 직장인도, 관람객도 이미 AI와 함께 정보를 찾는다"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"반대로 AI는 학습 접근성과 개인화 가능성을 높일 수 있다는 주장도 있다",</a:t>
            </a:r>
          </a:p>
          <a:p>
            <a:r>
              <a:t>  "그래서 문제는 사용 여부가 아니라, 어떤 질문을 던지고 어떤 답을 의심할지에 가깝다"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https://www.oecd.org/en/publications/oecd-digital-education-outlook-2026_062a7394-en.html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"https://www.unesco.org/en/articles/ai-and-education-protecting-rights-learners",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"UNESCO",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[반대관점] UNESCO — access and personalized learning. [근거] OECD Digital Education Outlook. [주의] AI 찬양/비판 단순화 금지.</a:t>
            </a:r>
          </a:p>
          <a:p>
            <a:r>
              <a:t>[overflow_notes]</a:t>
            </a:r>
          </a:p>
          <a:p>
            <a:r>
              <a:t>반대로 AI는 학습 접근성과 개인화 가능성을 높일 수 있다는 주장도 있다</a:t>
            </a:r>
          </a:p>
          <a:p>
            <a:r>
              <a:t>그래서 문제는 사용 여부가 아니라, 어떤 질문을 던지고 어떤 답을 의심할지에 가깝다</a:t>
            </a:r>
          </a:p>
          <a:p>
            <a:r>
              <a:t>[source_ref] source_context | Source URL carried from Anny storyline. | https://www.unesco.org/en/articles/ai-and-education-protecting-rights-learners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반대로 AI는 학습 접근성과 개인화 가능성을 높일 수 있다는 주장도 있다</a:t>
            </a:r>
          </a:p>
          <a:p>
            <a:r>
              <a:t>그래서 문제는 사용 여부가 아니라, 어떤 질문을 던지고 어떤 답을 의심할지에 가깝다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"UNESCO",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"https://www.unesco.org/en/articles/ai-and-education-protecting-rights-learners",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22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22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"출처를 확인하는 법"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 답변의 빈틈을 찾는 법",</a:t>
            </a:r>
          </a:p>
          <a:p>
            <a:r>
              <a:t>  "다른 자료와 비교하는 법",</a:t>
            </a:r>
          </a:p>
          <a:p>
            <a:r>
              <a:t>  "모르는 것을 모른다고 남기는 법"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https://www.unesco.org/en/articles/ai-competency-framework-students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"https://www.unesco.org/en/articles/ai-competency-framework-students",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"UNESCO",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[근거] UNESCO AI Competency Framework, Microsoft Research. [주의] 교육 처방은 제안으로 표현.</a:t>
            </a:r>
          </a:p>
          <a:p>
            <a:r>
              <a:t>[overflow_notes]</a:t>
            </a:r>
          </a:p>
          <a:p>
            <a:r>
              <a:t>AI 답변의 빈틈을 찾는 법</a:t>
            </a:r>
          </a:p>
          <a:p>
            <a:r>
              <a:t>다른 자료와 비교하는 법</a:t>
            </a:r>
          </a:p>
          <a:p>
            <a:r>
              <a:t>모르는 것을 모른다고 남기는 법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AI 답변의 빈틈을 찾는 법</a:t>
            </a:r>
          </a:p>
          <a:p>
            <a:r>
              <a:t>다른 자료와 비교하는 법</a:t>
            </a:r>
          </a:p>
          <a:p>
            <a:r>
              <a:t>모르는 것을 모른다고 남기는 법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"UNESCO",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"https://www.unesco.org/en/articles/ai-competency-framework-students",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23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23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"망원경은 하늘을 대신 봐주지 않는다"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"더 멀리 보게 해줄 뿐, 어디를 볼지는 사람이 정한다",</a:t>
            </a:r>
          </a:p>
          <a:p>
            <a:r>
              <a:t>  "AI도 답을 대신 주는 도구로만 쓰기보다, 더 좋은 질문을 돕는 도구가 될 수 있는지 묻는다"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[비유] BBC/Royal Observatory 맥락에서 가져온 방송용 구조. 교육 효과나 과학 사실 증명으로 쓰지 않음.</a:t>
            </a:r>
          </a:p>
          <a:p>
            <a:r>
              <a:t>[overflow_notes]</a:t>
            </a:r>
          </a:p>
          <a:p>
            <a:r>
              <a:t>더 멀리 보게 해줄 뿐, 어디를 볼지는 사람이 정한다</a:t>
            </a:r>
          </a:p>
          <a:p>
            <a:r>
              <a:t>AI도 답을 대신 주는 도구로만 쓰기보다, 더 좋은 질문을 돕는 도구가 될 수 있는지 묻는다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[overflow_notes]</a:t>
            </a:r>
          </a:p>
          <a:p>
            <a:r>
              <a:t>더 멀리 보게 해줄 뿐, 어디를 볼지는 사람이 정한다</a:t>
            </a:r>
          </a:p>
          <a:p>
            <a:r>
              <a:t>AI도 답을 대신 주는 도구로만 쓰기보다, 더 좋은 질문을 돕는 도구가 될 수 있는지 묻는다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false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24</a:t>
            </a:r>
          </a:p>
          <a:p>
            <a:r>
              <a:t>layout_type: quote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24</a:t>
            </a:r>
          </a:p>
          <a:p>
            <a:r>
              <a:t>]</a:t>
            </a:r>
          </a:p>
          <a:p>
            <a:r>
              <a:t>proof_object_type: source_card</a:t>
            </a:r>
          </a:p>
          <a:p>
            <a:r>
              <a:t>proof_object_required: True</a:t>
            </a:r>
          </a:p>
          <a:p>
            <a:r>
              <a:t>proof_object_screen_position: left_half</a:t>
            </a:r>
          </a:p>
          <a:p>
            <a:r>
              <a:t>manual_placeholder_hidden: True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"BBC/Royal Observatory 원문 맥락"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</a:t>
            </a:r>
          </a:p>
          <a:p>
            <a:r>
              <a:t>  "AI 정보탐색·교육 관련 보조 연구",</a:t>
            </a:r>
          </a:p>
          <a:p>
            <a:r>
              <a:t>  "AI 접근성/개인화라는 counterpoint",</a:t>
            </a:r>
          </a:p>
          <a:p>
            <a:r>
              <a:t>  "한국 학교·과학관 사례",</a:t>
            </a:r>
          </a:p>
          <a:p>
            <a:r>
              <a:t>  "남은 숫자와 사례는 production 전에 추가 확인"</a:t>
            </a:r>
          </a:p>
          <a:p>
            <a:r>
              <a:t>]</a:t>
            </a:r>
          </a:p>
          <a:p/>
          <a:p>
            <a:r>
              <a:t>source_urls:</a:t>
            </a:r>
          </a:p>
          <a:p>
            <a:r>
              <a:t>- https://www.bbc.com/news/articles/c2023l60370o?at_medium=RSS&amp;at_campaign=rss</a:t>
            </a:r>
          </a:p>
          <a:p>
            <a:r>
              <a:t>- https://www.microsoft.com/en-us/research/publication/from-searchable-to-non-searchable-generative-ai-and-information-diversity-in-online-information-seeking/</a:t>
            </a:r>
          </a:p>
          <a:p>
            <a:r>
              <a:t>- https://www.unesco.org/en/articles/ai-and-education-protecting-rights-learners</a:t>
            </a:r>
          </a:p>
          <a:p>
            <a:r>
              <a:t>- https://www.unesco.org/en/articles/ai-competency-framework-students</a:t>
            </a:r>
          </a:p>
          <a:p>
            <a:r>
              <a:t>- https://www.oecd.org/en/publications/oecd-digital-education-outlook-2026_062a7394-en.html</a:t>
            </a:r>
          </a:p>
          <a:p>
            <a:r>
              <a:t>- https://www.korea.kr/news/policyNewsView.do?newsId=148912089</a:t>
            </a:r>
          </a:p>
          <a:p>
            <a:r>
              <a:t>- https://www.science.go.kr/eps/cntnts/772/moveCntnts.do</a:t>
            </a:r>
          </a:p>
          <a:p>
            <a:r>
              <a:t>- https://www.sciencecenter.or.kr/kor/menu/sub.do?menuId=17_275</a:t>
            </a:r>
          </a:p>
          <a:p/>
          <a:p>
            <a:r>
              <a:t>source_refs: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"https://www.sciencecenter.or.kr/kor/menu/sub.do?menuId=17_275",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True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"manual",</a:t>
            </a:r>
          </a:p>
          <a:p>
            <a:r>
              <a:t>  "description": "Source URL carried from Anny storyline.",</a:t>
            </a:r>
          </a:p>
          <a:p>
            <a:r>
              <a:t>  "source_note": "https://www.bbc.com/news/articles/c2023l60370o?at_medium=RSS&amp;at_campaign=rss",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"required": true,</a:t>
            </a:r>
          </a:p>
          <a:p>
            <a:r>
              <a:t>  "screen_position": "left_half",</a:t>
            </a:r>
          </a:p>
          <a:p>
            <a:r>
              <a:t>  "display_label": "[출처]",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>
            <a:r>
              <a:t>- Manual fact-check required before broadcast.</a:t>
            </a:r>
          </a:p>
          <a:p/>
          <a:p>
            <a:r>
              <a:t>speaker_notes:</a:t>
            </a:r>
          </a:p>
          <a:p>
            <a:r>
              <a:t>[체크리스트] evidence_pack의 실제 URL을 반영. [남은 gap] 정량 수치와 추가 기관 사례는 production 전 확인.</a:t>
            </a:r>
          </a:p>
          <a:p>
            <a:r>
              <a:t>[overflow_notes]</a:t>
            </a:r>
          </a:p>
          <a:p>
            <a:r>
              <a:t>AI 정보탐색·교육 관련 보조 연구</a:t>
            </a:r>
          </a:p>
          <a:p>
            <a:r>
              <a:t>AI 접근성/개인화라는 counterpoint</a:t>
            </a:r>
          </a:p>
          <a:p>
            <a:r>
              <a:t>한국 학교·과학관 사례</a:t>
            </a:r>
          </a:p>
          <a:p>
            <a:r>
              <a:t>남은 숫자와 사례는 production 전에 추가 확인</a:t>
            </a:r>
          </a:p>
          <a:p>
            <a:r>
              <a:t>[source_ref] source_context | Source URL carried from Anny storyline. | https://www.bbc.com/news/articles/c2023l60370o?at_medium=RSS&amp;at_campaign=rss</a:t>
            </a:r>
          </a:p>
          <a:p>
            <a:r>
              <a:t>[source_ref] source_context | Source URL carried from Anny storyline. | https://www.microsoft.com/en-us/research/publication/from-searchable-to-non-searchable-generative-ai-and-information-diversity-in-online-information-seeking/</a:t>
            </a:r>
          </a:p>
          <a:p>
            <a:r>
              <a:t>[source_ref] source_context | Source URL carried from Anny storyline. | https://www.unesco.org/en/articles/ai-and-education-protecting-rights-learners</a:t>
            </a:r>
          </a:p>
          <a:p>
            <a:r>
              <a:t>[source_ref] source_context | Source URL carried from Anny storyline. | https://www.unesco.org/en/articles/ai-competency-framework-students</a:t>
            </a:r>
          </a:p>
          <a:p>
            <a:r>
              <a:t>[source_ref] source_context | Source URL carried from Anny storyline. | https://www.oecd.org/en/publications/oecd-digital-education-outlook-2026_062a7394-en.html</a:t>
            </a:r>
          </a:p>
          <a:p>
            <a:r>
              <a:t>[source_ref] source_context | Source URL carried from Anny storyline. | https://www.korea.kr/news/policyNewsView.do?newsId=148912089</a:t>
            </a:r>
          </a:p>
          <a:p>
            <a:r>
              <a:t>[source_ref] source_context | Source URL carried from Anny storyline. | https://www.science.go.kr/eps/cntnts/772/moveCntnts.do</a:t>
            </a:r>
          </a:p>
          <a:p>
            <a:r>
              <a:t>[source_ref] source_context | Source URL carried from Anny storyline. | https://www.sciencecenter.or.kr/kor/menu/sub.do?menuId=17_275</a:t>
            </a:r>
          </a:p>
          <a:p>
            <a:r>
              <a:t>[check] needs_fact_check=true</a:t>
            </a:r>
          </a:p>
          <a:p>
            <a:r>
              <a:t>[overflow_notes]</a:t>
            </a:r>
          </a:p>
          <a:p>
            <a:r>
              <a:t>AI 정보탐색·교육 관련 보조 연구</a:t>
            </a:r>
          </a:p>
          <a:p>
            <a:r>
              <a:t>AI 접근성/개인화라는 counterpoint</a:t>
            </a:r>
          </a:p>
          <a:p>
            <a:r>
              <a:t>한국 학교·과학관 사례</a:t>
            </a:r>
          </a:p>
          <a:p>
            <a:r>
              <a:t>남은 숫자와 사례는 production 전에 추가 확인</a:t>
            </a:r>
          </a:p>
          <a:p>
            <a:r>
              <a:t>[source_refs]</a:t>
            </a:r>
          </a:p>
          <a:p>
            <a:r>
              <a:t>[</a:t>
            </a:r>
          </a:p>
          <a:p>
            <a:r>
              <a:t>  {</a:t>
            </a:r>
          </a:p>
          <a:p>
            <a:r>
              <a:t>    "url": "https://www.bbc.com/news/articles/c2023l60370o?at_medium=RSS&amp;at_campaign=rss",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"https://www.microsoft.com/en-us/research/publication/from-searchable-to-non-searchable-generative-ai-and-information-diversity-in-online-information-seeking/",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"https://www.unesco.org/en/articles/ai-and-education-protecting-rights-learners",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"https://www.unesco.org/en/articles/ai-competency-framework-students",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"https://www.oecd.org/en/publications/oecd-digital-education-outlook-2026_062a7394-en.html",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"https://www.korea.kr/news/policyNewsView.do?newsId=148912089",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"https://www.science.go.kr/eps/cntnts/772/moveCntnts.do",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},</a:t>
            </a:r>
          </a:p>
          <a:p>
            <a:r>
              <a:t>  {</a:t>
            </a:r>
          </a:p>
          <a:p>
            <a:r>
              <a:t>    "url": "https://www.sciencecenter.or.kr/kor/menu/sub.do?menuId=17_275",</a:t>
            </a:r>
          </a:p>
          <a:p>
            <a:r>
              <a:t>    "role": "source_context",</a:t>
            </a:r>
          </a:p>
          <a:p>
            <a:r>
              <a:t>    "use": "Source URL carried from Anny storyline.",</a:t>
            </a:r>
          </a:p>
          <a:p>
            <a:r>
              <a:t>    "confidence": "medium",</a:t>
            </a:r>
          </a:p>
          <a:p>
            <a:r>
              <a:t>    "manual_check_required": true</a:t>
            </a:r>
          </a:p>
          <a:p>
            <a:r>
              <a:t>  }</a:t>
            </a:r>
          </a:p>
          <a:p>
            <a:r>
              <a:t>]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"source_card",</a:t>
            </a:r>
          </a:p>
          <a:p>
            <a:r>
              <a:t>  "screen_position": "left_half",</a:t>
            </a:r>
          </a:p>
          <a:p>
            <a:r>
              <a:t>  "source_name": "BBC",</a:t>
            </a:r>
          </a:p>
          <a:p>
            <a:r>
              <a:t>  "display_title": "Source URL carried from Anny storyline.",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"https://www.bbc.com/news/articles/c2023l60370o?at_medium=RSS&amp;at_campaign=rss",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  <a:p>
            <a:r>
              <a:t>[editor_instruction]</a:t>
            </a:r>
          </a:p>
          <a:p>
            <a:r>
              <a:t>Manual fact-check required before broadcast.</a:t>
            </a:r>
          </a:p>
          <a:p>
            <a:r>
              <a:t>[risk_flags]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  <a:p/>
          <a:p>
            <a:r>
              <a:t>risk_flags:</a:t>
            </a:r>
          </a:p>
          <a:p>
            <a:r>
              <a:t>[</a:t>
            </a:r>
          </a:p>
          <a:p>
            <a:r>
              <a:t>  "single_source_dependency"</a:t>
            </a:r>
          </a:p>
          <a:p>
            <a:r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25</a:t>
            </a:r>
          </a:p>
          <a:p>
            <a:r>
              <a:t>layout_type: closing_question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25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"좋은 질문을 만들고",</a:t>
            </a:r>
          </a:p>
          <a:p>
            <a:r>
              <a:t>  "답의 출처를 확인하고",</a:t>
            </a:r>
          </a:p>
          <a:p>
            <a:r>
              <a:t>  "모르는 것을 남겨두는 법을 배우는 일일지도 모른다"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마무리 문장. 효과 단정이 아니라 질문형 결론으로 유지.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slide_no: 26</a:t>
            </a:r>
          </a:p>
          <a:p>
            <a:r>
              <a:t>layout_type: question</a:t>
            </a:r>
          </a:p>
          <a:p>
            <a:r>
              <a:t>style_profile_loaded: True</a:t>
            </a:r>
          </a:p>
          <a:p>
            <a:r>
              <a:t>style_profile_path: data/style_profiles/syukaworld_ppt_style_profile.json</a:t>
            </a:r>
          </a:p>
          <a:p>
            <a:r>
              <a:t>applied_font_family: 맑은 고딕</a:t>
            </a:r>
          </a:p>
          <a:p>
            <a:r>
              <a:t>applied_fallback_font: Malgun Gothic</a:t>
            </a:r>
          </a:p>
          <a:p>
            <a:r>
              <a:t>source_slide_refs: [</a:t>
            </a:r>
          </a:p>
          <a:p>
            <a:r>
              <a:t>  26</a:t>
            </a:r>
          </a:p>
          <a:p>
            <a:r>
              <a:t>]</a:t>
            </a:r>
          </a:p>
          <a:p>
            <a:r>
              <a:t>proof_object_type: none</a:t>
            </a:r>
          </a:p>
          <a:p>
            <a:r>
              <a:t>proof_object_required: False</a:t>
            </a:r>
          </a:p>
          <a:p>
            <a:r>
              <a:t>proof_object_screen_position: none</a:t>
            </a:r>
          </a:p>
          <a:p>
            <a:r>
              <a:t>manual_placeholder_hidden: False</a:t>
            </a:r>
          </a:p>
          <a:p/>
          <a:p>
            <a:r>
              <a:t>screen_body_lines:</a:t>
            </a:r>
          </a:p>
          <a:p>
            <a:r>
              <a:t>[</a:t>
            </a:r>
          </a:p>
          <a:p>
            <a:r>
              <a:t>  "이제 진짜 시험 문제는 이걸지도 모른다",</a:t>
            </a:r>
          </a:p>
          <a:p>
            <a:r>
              <a:t>  "답은 AI가 했는데, 질문은 누가 했습니까?"</a:t>
            </a:r>
          </a:p>
          <a:p>
            <a:r>
              <a:t>]</a:t>
            </a:r>
          </a:p>
          <a:p>
            <a:r>
              <a:t>overflow_body_lines:</a:t>
            </a:r>
          </a:p>
          <a:p>
            <a:r>
              <a:t>[]</a:t>
            </a:r>
          </a:p>
          <a:p/>
          <a:p>
            <a:r>
              <a:t>source_urls:</a:t>
            </a:r>
          </a:p>
          <a:p>
            <a:r>
              <a:t>image_urls:</a:t>
            </a:r>
          </a:p>
          <a:p/>
          <a:p>
            <a:r>
              <a:t>flags:</a:t>
            </a:r>
          </a:p>
          <a:p>
            <a:r>
              <a:t>- needs_source: False</a:t>
            </a:r>
          </a:p>
          <a:p>
            <a:r>
              <a:t>- needs_fact_check: False</a:t>
            </a:r>
          </a:p>
          <a:p>
            <a:r>
              <a:t>- required_before_broadcast: False</a:t>
            </a:r>
          </a:p>
          <a:p>
            <a:r>
              <a:t>- copyright_risk: False</a:t>
            </a:r>
          </a:p>
          <a:p/>
          <a:p>
            <a:r>
              <a:t>visual_plan:</a:t>
            </a:r>
          </a:p>
          <a:p>
            <a:r>
              <a:t>{</a:t>
            </a:r>
          </a:p>
          <a:p>
            <a:r>
              <a:t>  "kind": "none",</a:t>
            </a:r>
          </a:p>
          <a:p>
            <a:r>
              <a:t>  "description": "",</a:t>
            </a:r>
          </a:p>
          <a:p>
            <a:r>
              <a:t>  "source_note": null,</a:t>
            </a:r>
          </a:p>
          <a:p>
            <a:r>
              <a:t>  "copyright_risk": false,</a:t>
            </a:r>
          </a:p>
          <a:p>
            <a:r>
              <a:t>  "manual_check_required": false,</a:t>
            </a:r>
          </a:p>
          <a:p>
            <a:r>
              <a:t>  "prompt_if_ai_image": null</a:t>
            </a:r>
          </a:p>
          <a:p>
            <a:r>
              <a:t>}</a:t>
            </a:r>
          </a:p>
          <a:p/>
          <a:p>
            <a:r>
              <a:t>proof_object: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"required": false,</a:t>
            </a:r>
          </a:p>
          <a:p>
            <a:r>
              <a:t>  "screen_position": "none",</a:t>
            </a:r>
          </a:p>
          <a:p>
            <a:r>
              <a:t>  "display_label": "",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"copyright_risk": false,</a:t>
            </a:r>
          </a:p>
          <a:p>
            <a:r>
              <a:t>  "manual_insert_required": false,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</a:t>
            </a:r>
          </a:p>
          <a:p>
            <a:r>
              <a:t>}</a:t>
            </a:r>
          </a:p>
          <a:p/>
          <a:p>
            <a:r>
              <a:t>edit_notes:</a:t>
            </a:r>
          </a:p>
          <a:p/>
          <a:p>
            <a:r>
              <a:t>speaker_notes:</a:t>
            </a:r>
          </a:p>
          <a:p>
            <a:r>
              <a:t>[rhetorical_bridge] 방송용 punchline. 출처 없는 사실 주장 아님.</a:t>
            </a:r>
          </a:p>
          <a:p>
            <a:r>
              <a:t>[proof_object]</a:t>
            </a:r>
          </a:p>
          <a:p>
            <a:r>
              <a:t>{</a:t>
            </a:r>
          </a:p>
          <a:p>
            <a:r>
              <a:t>  "type": "none",</a:t>
            </a:r>
          </a:p>
          <a:p>
            <a:r>
              <a:t>  "screen_position": "none",</a:t>
            </a:r>
          </a:p>
          <a:p>
            <a:r>
              <a:t>  "source_name": null,</a:t>
            </a:r>
          </a:p>
          <a:p>
            <a:r>
              <a:t>  "display_title": null,</a:t>
            </a:r>
          </a:p>
          <a:p>
            <a:r>
              <a:t>  "quote_text": null,</a:t>
            </a:r>
          </a:p>
          <a:p>
            <a:r>
              <a:t>  "quote_translation": null,</a:t>
            </a:r>
          </a:p>
          <a:p>
            <a:r>
              <a:t>  "source_url": null,</a:t>
            </a:r>
          </a:p>
          <a:p>
            <a:r>
              <a:t>  "image_url": null,</a:t>
            </a:r>
          </a:p>
          <a:p>
            <a:r>
              <a:t>  "chart_title": null,</a:t>
            </a:r>
          </a:p>
          <a:p>
            <a:r>
              <a:t>  "chart_source_label": null,</a:t>
            </a:r>
          </a:p>
          <a:p>
            <a:r>
              <a:t>  "data_hint": null,</a:t>
            </a:r>
          </a:p>
          <a:p>
            <a:r>
              <a:t>  "diagram_nodes": [],</a:t>
            </a:r>
          </a:p>
          <a:p>
            <a:r>
              <a:t>  "diagram_edges": [],</a:t>
            </a:r>
          </a:p>
          <a:p>
            <a:r>
              <a:t>  "placeholder_reason": null,</a:t>
            </a:r>
          </a:p>
          <a:p>
            <a:r>
              <a:t>  "manual_insert_required": false,</a:t>
            </a:r>
          </a:p>
          <a:p>
            <a:r>
              <a:t>  "copyright_risk": false</a:t>
            </a:r>
          </a:p>
          <a:p>
            <a:r>
              <a:t>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56792" y="1122883"/>
            <a:ext cx="10478109" cy="2387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000000"/>
                </a:solidFill>
                <a:latin typeface="맑은 고딕"/>
              </a:rPr>
              <a:t>AI 즉답 시대의 지식기관 역할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답을 바로 주는 건 정말 편리하다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물으면 바로 답이 나오고, 검색 결과를 여러 개 열어보던 시간…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영국 왕립천문대 쪽에서 나온 경고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 보도는 Royal Observatory 쪽 경고를 AI 의존과 인간…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천문대가 왜 이런 말을 했을까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 즉답은 그 과정을 도와줄 수도, 일부 건너뛰게 만들 수도 있다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 이야기는 천문대만의 이야기가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학교, 박물관, 도서관, 과학관도 AI가 설명을 대신하는 시대의 질문을 마…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그러면 이제 공부는 무엇이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아는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답을 의심하고 확인하는 능력인가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혹은 더 좋은 질문을 만드는 능력인가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생략되는 건 답이 아니라 과정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예전 검색은 귀찮았지만 흔적이 남았다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검색어를 바꿔보고, 여러 결과를 비교하고, 출처를 고르는 과정이 있었다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 즉답은 그 과정을 압축한다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점: 빠르고, 친절하고, 맥락을 이어준다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생각은 결과가 아니라 중간 과정에 숨어 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틀린 가설을 세워보고, 다른 자료와 부딪히고, 왜 틀렸는지 고치는 시간이…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Royal Observatory의 문제의식도 여기에 가깝다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Royal Observatory 관련 보도는 AI 의존 경고를 인간 지식과…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검색왕의 시대에서 질문왕의 시대로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예전엔 누가 더 잘 찾느냐의 싸움이었다면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이제는 누가 더 좋은 질문을 하느냐의 싸움일 수 있다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정답을 말할수록, 사람은 질문을 더 잘해야 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학교와 지식기관은 무엇을 해야 하나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OECD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학교는 이제 정답 암기만으로 버티기 어렵다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많은 정보를 설명할 수 있다면, 수업은 무엇을 외웠나보다 어떻게 확…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박물관은 전시품 옆 설명문 이상의 것이 필요해진다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설명 자체는 AI도 해줄 수 있다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천문관은 ‘별 이름’보다 ‘보는 법’을 가르치는 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AI는 별자리 정보를 바로 줄 수 있다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14300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u="sng">
                <a:solidFill>
                  <a:srgbClr val="000000"/>
                </a:solidFill>
                <a:latin typeface="맑은 고딕"/>
              </a:rPr>
              <a:t>이 부분은 아직 숫자가 필요하다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828800"/>
            <a:ext cx="10378440" cy="384048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72768" y="2304288"/>
            <a:ext cx="16459" cy="2907792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72768" y="5138928"/>
            <a:ext cx="9235440" cy="16459"/>
          </a:xfrm>
          <a:prstGeom prst="rect">
            <a:avLst/>
          </a:prstGeom>
          <a:solidFill>
            <a:srgbClr val="D2D2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1952" y="3483864"/>
            <a:ext cx="658368" cy="1655064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645920" y="3172968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데이터 후보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데이터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12792" y="3776472"/>
            <a:ext cx="658368" cy="1362456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6760" y="3465576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0184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비교값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23631" y="4069080"/>
            <a:ext cx="658368" cy="1069848"/>
          </a:xfrm>
          <a:prstGeom prst="rect">
            <a:avLst/>
          </a:prstGeom>
          <a:solidFill>
            <a:srgbClr val="4872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67599" y="3758184"/>
            <a:ext cx="1170432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u="none">
                <a:solidFill>
                  <a:srgbClr val="373737"/>
                </a:solidFill>
                <a:latin typeface="맑은 고딕"/>
              </a:rPr>
              <a:t>확인 필요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31023" y="5212080"/>
            <a:ext cx="124358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none">
                <a:solidFill>
                  <a:srgbClr val="373737"/>
                </a:solidFill>
                <a:latin typeface="맑은 고딕"/>
              </a:rPr>
              <a:t>확인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5806440"/>
            <a:ext cx="5257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2000" b="0" u="sng">
                <a:solidFill>
                  <a:srgbClr val="000000"/>
                </a:solidFill>
                <a:latin typeface="맑은 고딕"/>
              </a:rPr>
              <a:t>(출처: OECD)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정책브리핑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한국에서도 곧 같은 질문이 온다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한국에서도 AI 디지털교과서와 AI 체험 전시가 이미 정책·기관 사례로 등…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Microsoft Research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지식기관의 경쟁자는 AI가 아니라 ‘무심코 넘어가는 습관’일지도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AI가 답을 주는 건 막기 어렵다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43991" y="1273759"/>
            <a:ext cx="10752429" cy="2424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400" b="1" u="none">
                <a:solidFill>
                  <a:srgbClr val="181C23"/>
                </a:solidFill>
                <a:latin typeface="맑은 고딕"/>
              </a:rPr>
              <a:t>AI를 금지할 것인가, 다루는 법을 가르칠 것인가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AI를 안 쓰게 하는 건 점점 어려워진다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학생도, 직장인도, 관람객도 이미 AI와 함께 정보를 찾는다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UNESCO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그래서 가르쳐야 할 것은 ‘AI 정답’이 아니라 ‘AI 검산’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출처를 확인하는 법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천문학이 좋은 비유인 이유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망원경은 하늘을 대신 봐주지 않는다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1508760"/>
            <a:ext cx="4800600" cy="3794760"/>
          </a:xfrm>
          <a:prstGeom prst="rect">
            <a:avLst/>
          </a:prstGeom>
          <a:solidFill>
            <a:srgbClr val="F5F5F5"/>
          </a:solidFill>
          <a:ln w="12700">
            <a:solidFill>
              <a:srgbClr val="BEBE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100" b="1">
                <a:solidFill>
                  <a:srgbClr val="000000"/>
                </a:solidFill>
                <a:latin typeface="맑은 고딕"/>
              </a:rPr>
              <a:t>BBC</a:t>
            </a:r>
          </a:p>
          <a:p>
            <a:pPr algn="ctr">
              <a:spcBef>
                <a:spcPts val="400"/>
              </a:spcBef>
            </a:pPr>
            <a:r>
              <a:rPr sz="1400" b="0">
                <a:solidFill>
                  <a:srgbClr val="373737"/>
                </a:solidFill>
                <a:latin typeface="맑은 고딕"/>
              </a:rPr>
              <a:t>Source URL carried from Anny storyline.</a:t>
            </a:r>
          </a:p>
        </p:txBody>
      </p:sp>
      <p:sp>
        <p:nvSpPr>
          <p:cNvPr id="3" name="Rectangle 2"/>
          <p:cNvSpPr/>
          <p:nvPr/>
        </p:nvSpPr>
        <p:spPr>
          <a:xfrm>
            <a:off x="5806440" y="731520"/>
            <a:ext cx="6126479" cy="6446520"/>
          </a:xfrm>
          <a:prstGeom prst="rect">
            <a:avLst/>
          </a:prstGeom>
          <a:solidFill>
            <a:srgbClr val="FFFFFF"/>
          </a:solidFill>
          <a:ln w="15240">
            <a:solidFill>
              <a:srgbClr val="D2D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방송 전 꼭 채워야 할 자료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06440" y="1965960"/>
            <a:ext cx="5577840" cy="24688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BBC/Royal Observatory 원문 맥락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 시대의 공부는 정답을 맞히는 일이 아니라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좋은 질문을 만들고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답의 출처를 확인하고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모르는 것을 남겨두는 법을 배우는 일일지도 모른다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2414" y="356616"/>
            <a:ext cx="11192256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0" u="none">
                <a:solidFill>
                  <a:srgbClr val="FF0000"/>
                </a:solidFill>
                <a:latin typeface="맑은 고딕"/>
              </a:rPr>
              <a:t>AI가 답을 해주면, 사람은 질문을 해야 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2103120"/>
            <a:ext cx="1065276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이제 진짜 시험 문제는 이걸지도 모른다</a:t>
            </a:r>
          </a:p>
          <a:p>
            <a:pPr>
              <a:lnSpc>
                <a:spcPct val="150000"/>
              </a:lnSpc>
              <a:spcAft>
                <a:spcPts val="800"/>
              </a:spcAft>
            </a:pPr>
            <a:r>
              <a:rPr sz="2800" b="0" u="none">
                <a:solidFill>
                  <a:srgbClr val="000000"/>
                </a:solidFill>
                <a:latin typeface="맑은 고딕"/>
              </a:rPr>
              <a:t>답은 AI가 했는데, 질문은 누가 했습니까?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