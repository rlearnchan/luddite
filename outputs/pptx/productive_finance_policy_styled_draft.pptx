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</a:t>
            </a:r>
          </a:p>
          <a:p>
            <a:r>
              <a:t>layout_type: title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방송용 전환/질문 slide. 사실 주장으로 과확장하지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</a:t>
            </a:r>
          </a:p>
          <a:p>
            <a:r>
              <a:t>layout_type: big_headline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https://news.einfomax.co.kr/news/articleView.html?idxno=4415444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"https://news.einfomax.co.kr/news/articleView.html?idxno=4415444; https://www.fsc.go.kr/no010101/86834?curPage=2&amp;srchBeginDt=&amp;srchCtgry=&amp;srchEndDt=&amp;srchKey=&amp;srchText=",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[내용] 연합인포맥스 후보 기사 + 금융위원회 공식자료. 발언 원문 맥락은 방송 전 재확인.</a:t>
            </a:r>
          </a:p>
          <a:p>
            <a:r>
              <a:t>[내용] https://news.einfomax.co.kr/news/articleView.html?idxno=4415444</a:t>
            </a:r>
          </a:p>
          <a:p>
            <a:r>
              <a:t>[내용] https://www.fsc.go.kr/no010101/86834?curPage=2&amp;srchBeginDt=&amp;srchCtgry=&amp;srchEndDt=&amp;srchKey=&amp;srchText=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3</a:t>
            </a:r>
          </a:p>
          <a:p>
            <a:r>
              <a:t>layout_type: headline_body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3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https://www.bis.org/bcbs/basel3.htm</a:t>
            </a:r>
          </a:p>
          <a:p>
            <a:r>
              <a:t>- https://www.donga.com/news/Economy/article/all/20251113/132765077/4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"https://www.bis.org/bcbs/basel3.htm; https://www.donga.com/news/Economy/article/all/20251113/132765077/4",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BIS Basel III 프레임워크 + 국내 인내자본/건전성 규제 논의. 국내 감독규정은 방송 전 추가 확인.</a:t>
            </a:r>
          </a:p>
          <a:p>
            <a:r>
              <a:t>[내용] https://www.bis.org/bcbs/basel3.htm</a:t>
            </a:r>
          </a:p>
          <a:p>
            <a:r>
              <a:t>[내용] https://www.donga.com/news/Economy/article/all/20251113/132765077/4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4</a:t>
            </a:r>
          </a:p>
          <a:p>
            <a:r>
              <a:t>layout_type: question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4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https://www.korea.kr/news/policyNewsView.do?newsId=148961201&amp;pWise=main&amp;pWiseMain=A4</a:t>
            </a:r>
          </a:p>
          <a:p>
            <a:r>
              <a:t>- https://m.korea.kr/news/policyNewsView.do?newsId=148956795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"https://www.korea.kr/news/policyNewsView.do?newsId=148961201&amp;pWise=main&amp;pWiseMain=A4; https://m.korea.kr/news/policyNewsView.do?newsId=148956795",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국민성장펀드 AI·반도체 집중 투자 자료. 투자 효과 단정 금지.</a:t>
            </a:r>
          </a:p>
          <a:p>
            <a:r>
              <a:t>[내용] https://www.korea.kr/news/policyNewsView.do?newsId=148961201&amp;pWise=main&amp;pWiseMain=A4</a:t>
            </a:r>
          </a:p>
          <a:p>
            <a:r>
              <a:t>[내용] https://m.korea.kr/news/policyNewsView.do?newsId=148956795</a:t>
            </a:r>
          </a:p>
          <a:p>
            <a:r>
              <a:t>[내용] https://www.fsc.go.kr/no010101/86834?curPage=2&amp;srchBeginDt=&amp;srchCtgry=&amp;srchEndDt=&amp;srchKey=&amp;srchText=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5</a:t>
            </a:r>
          </a:p>
          <a:p>
            <a:r>
              <a:t>layout_type: question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5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방송용 전환/질문 slide. 사실 주장으로 과확장하지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6</a:t>
            </a:r>
          </a:p>
          <a:p>
            <a:r>
              <a:t>layout_type: section_title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6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방송용 전환/질문 slide. 사실 주장으로 과확장하지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7</a:t>
            </a:r>
          </a:p>
          <a:p>
            <a:r>
              <a:t>layout_type: headline_body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7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https://www.korea.kr/news/policyNewsView.do?newsId=148961201&amp;pWise=main&amp;pWiseMain=A4</a:t>
            </a:r>
          </a:p>
          <a:p>
            <a:r>
              <a:t>- https://m.korea.kr/news/policyNewsView.do?newsId=148956795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"https://www.korea.kr/news/policyNewsView.do?newsId=148961201&amp;pWise=main&amp;pWiseMain=A4; https://m.korea.kr/news/policyNewsView.do?newsId=148956795",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AI·반도체 장기 투자와 1차 메가프로젝트 자료. 세부 투자 규모는 방송 전 재확인.</a:t>
            </a:r>
          </a:p>
          <a:p>
            <a:r>
              <a:t>[내용] https://www.korea.kr/news/policyNewsView.do?newsId=148961201&amp;pWise=main&amp;pWiseMain=A4</a:t>
            </a:r>
          </a:p>
          <a:p>
            <a:r>
              <a:t>[내용] https://m.korea.kr/news/policyNewsView.do?newsId=148956795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8</a:t>
            </a:r>
          </a:p>
          <a:p>
            <a:r>
              <a:t>layout_type: chart_placeholder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8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https://www.korea.kr/news/policyNewsView.do?newsId=148961201&amp;pWise=main&amp;pWiseMain=A4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"chart_candidate",</a:t>
            </a:r>
          </a:p>
          <a:p>
            <a:r>
              <a:t>  "description": "Chart or simple number card candidate; no chart is rendered yet.",</a:t>
            </a:r>
          </a:p>
          <a:p>
            <a:r>
              <a:t>  "source_note": "https://www.korea.kr/news/policyNewsView.do?newsId=148961201&amp;pWise=main&amp;pWiseMain=A4; https://www.fsc.go.kr/no010101/86834?curPage=2&amp;srchBeginDt=&amp;srchCtgry=&amp;srchEndDt=&amp;srchKey=&amp;srchText=",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공식 정책자료. 수익률·정책 효과 단정 금지.</a:t>
            </a:r>
          </a:p>
          <a:p>
            <a:r>
              <a:t>[내용] https://www.korea.kr/news/policyNewsView.do?newsId=148961201&amp;pWise=main&amp;pWiseMain=A4</a:t>
            </a:r>
          </a:p>
          <a:p>
            <a:r>
              <a:t>[내용] https://www.fsc.go.kr/no010101/86834?curPage=2&amp;srchBeginDt=&amp;srchCtgry=&amp;srchEndDt=&amp;srchKey=&amp;srchText=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9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9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https://www.bis.org/bcbs/basel3.htm</a:t>
            </a:r>
          </a:p>
          <a:p>
            <a:r>
              <a:t>- https://www.donga.com/news/Economy/article/all/20251113/132765077/4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"https://www.bis.org/bcbs/basel3.htm; https://www.donga.com/news/Economy/article/all/20251113/132765077/4",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BIS 위험가중자산/자본규제 배경 + 국내 건전성 규제 논의.</a:t>
            </a:r>
          </a:p>
          <a:p>
            <a:r>
              <a:t>[내용] https://www.bis.org/bcbs/basel3.htm</a:t>
            </a:r>
          </a:p>
          <a:p>
            <a:r>
              <a:t>[내용] https://www.donga.com/news/Economy/article/all/20251113/132765077/4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10</a:t>
            </a:r>
          </a:p>
          <a:p>
            <a:r>
              <a:t>layout_type: question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10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- https://www.investchosun.com/m/article.html?contid=2026042180102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"https://www.fsc.go.kr/no010101/86834?curPage=2&amp;srchBeginDt=&amp;srchCtgry=&amp;srchEndDt=&amp;srchKey=&amp;srchText=; https://www.investchosun.com/m/article.html?contid=2026042180102",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금융위원회 공식자료 + 정책금융/관제상품 counterpoint. 균형 유지.</a:t>
            </a:r>
          </a:p>
          <a:p>
            <a:r>
              <a:t>[내용] https://www.fsc.go.kr/no010101/86834?curPage=2&amp;srchBeginDt=&amp;srchCtgry=&amp;srchEndDt=&amp;srchKey=&amp;srchText=</a:t>
            </a:r>
          </a:p>
          <a:p>
            <a:r>
              <a:t>[내용] https://www.investchosun.com/m/article.html?contid=2026042180102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11</a:t>
            </a:r>
          </a:p>
          <a:p>
            <a:r>
              <a:t>layout_type: question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11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consider_split: more than three body bullets</a:t>
            </a:r>
          </a:p>
          <a:p/>
          <a:p>
            <a:r>
              <a:t>speaker_notes:</a:t>
            </a:r>
          </a:p>
          <a:p>
            <a:r>
              <a:t>방송용 전환/질문 slide. 사실 주장으로 과확장하지 말 것.</a:t>
            </a:r>
          </a:p>
          <a:p>
            <a:r>
              <a:t>[편집 메모] consider_split: more than three body bullets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12</a:t>
            </a:r>
          </a:p>
          <a:p>
            <a:r>
              <a:t>layout_type: section_title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12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방송용 전환/질문 slide. 사실 주장으로 과확장하지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13</a:t>
            </a:r>
          </a:p>
          <a:p>
            <a:r>
              <a:t>layout_type: big_headline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13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- https://ngf.kdb.co.kr/GFMNMN00N00.act</a:t>
            </a:r>
          </a:p>
          <a:p>
            <a:r>
              <a:t>- https://www.korea.kr/news/policyNewsView.do?newsId=148963908&amp;pWise=main&amp;pWiseMain=R3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"https://www.fsc.go.kr/no010101/86834?curPage=2&amp;srchBeginDt=&amp;srchCtgry=&amp;srchEndDt=&amp;srchKey=&amp;srchText=; https://ngf.kdb.co.kr/GFMNMN00N00.act",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금융위원회/산업은행 공식자료. 정책상품 홍보처럼 보이지 않게 주의.</a:t>
            </a:r>
          </a:p>
          <a:p>
            <a:r>
              <a:t>[내용] https://www.fsc.go.kr/no010101/86834?curPage=2&amp;srchBeginDt=&amp;srchCtgry=&amp;srchEndDt=&amp;srchKey=&amp;srchText=</a:t>
            </a:r>
          </a:p>
          <a:p>
            <a:r>
              <a:t>[내용] https://ngf.kdb.co.kr/GFMNMN00N00.act</a:t>
            </a:r>
          </a:p>
          <a:p>
            <a:r>
              <a:t>[내용] https://www.korea.kr/news/policyNewsView.do?newsId=148963908&amp;pWise=main&amp;pWiseMain=R3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14</a:t>
            </a:r>
          </a:p>
          <a:p>
            <a:r>
              <a:t>layout_type: headline_body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14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https://www.korea.kr/news/policyNewsView.do?newsId=148963908&amp;pWise=main&amp;pWiseMain=R3</a:t>
            </a:r>
          </a:p>
          <a:p>
            <a:r>
              <a:t>- https://www.korea.kr/multi/visualNewsView.do?newsId=148964200&amp;pWise=main&amp;pWiseMain=K3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"https://www.korea.kr/news/policyNewsView.do?newsId=148963908&amp;pWise=main&amp;pWiseMain=R3; https://www.korea.kr/multi/visualNewsView.do?newsId=148964200&amp;pWise=main&amp;pWiseMain=K3",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정책브리핑 판매 구조와 카드뉴스. 투자 위험 표현은 반드시 보수적으로 유지.</a:t>
            </a:r>
          </a:p>
          <a:p>
            <a:r>
              <a:t>[내용] https://www.korea.kr/news/policyNewsView.do?newsId=148963908&amp;pWise=main&amp;pWiseMain=R3</a:t>
            </a:r>
          </a:p>
          <a:p>
            <a:r>
              <a:t>[내용] https://www.korea.kr/multi/visualNewsView.do?newsId=148964200&amp;pWise=main&amp;pWiseMain=K3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15</a:t>
            </a:r>
          </a:p>
          <a:p>
            <a:r>
              <a:t>layout_type: quote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15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https://www.korea.kr/news/policyNewsView.do?newsId=148963908&amp;pWise=main&amp;pWiseMain=R3</a:t>
            </a:r>
          </a:p>
          <a:p>
            <a:r>
              <a:t>- https://m.korea.kr/briefing/pressReleaseView.do?newsId=156739847</a:t>
            </a:r>
          </a:p>
          <a:p>
            <a:r>
              <a:t>- https://www.investchosun.com/m/article.html?contid=2026042180102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"https://www.korea.kr/news/policyNewsView.do?newsId=148963908&amp;pWise=main&amp;pWiseMain=R3; https://m.korea.kr/briefing/pressReleaseView.do?newsId=156739847",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정책 mechanism + counterpoint. 손실분담 수치와 구조는 방송 전 재확인.</a:t>
            </a:r>
          </a:p>
          <a:p>
            <a:r>
              <a:t>[내용] https://www.korea.kr/news/policyNewsView.do?newsId=148963908&amp;pWise=main&amp;pWiseMain=R3</a:t>
            </a:r>
          </a:p>
          <a:p>
            <a:r>
              <a:t>[내용] https://m.korea.kr/briefing/pressReleaseView.do?newsId=156739847</a:t>
            </a:r>
          </a:p>
          <a:p>
            <a:r>
              <a:t>[내용] https://www.investchosun.com/m/article.html?contid=2026042180102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16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16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https://m.korea.kr/news/policyNewsView.do?newsId=148956795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- https://www.investchosun.com/m/article.html?contid=2026042180102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"https://m.korea.kr/news/policyNewsView.do?newsId=148956795; https://www.fsc.go.kr/no010101/86834?curPage=2&amp;srchBeginDt=&amp;srchCtgry=&amp;srchEndDt=&amp;srchKey=&amp;srchText=",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공식 지원대상 자료 + counterpoint. 기업 홍보/투자 조언 금지.</a:t>
            </a:r>
          </a:p>
          <a:p>
            <a:r>
              <a:t>[내용] https://m.korea.kr/news/policyNewsView.do?newsId=148956795</a:t>
            </a:r>
          </a:p>
          <a:p>
            <a:r>
              <a:t>[내용] https://www.fsc.go.kr/no010101/86834?curPage=2&amp;srchBeginDt=&amp;srchCtgry=&amp;srchEndDt=&amp;srchKey=&amp;srchText=</a:t>
            </a:r>
          </a:p>
          <a:p>
            <a:r>
              <a:t>[내용] https://www.investchosun.com/m/article.html?contid=2026042180102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17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17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https://www.investchosun.com/m/article.html?contid=2026042180102</a:t>
            </a:r>
          </a:p>
          <a:p>
            <a:r>
              <a:t>- https://www.bis.org/bcbs/basel3.htm</a:t>
            </a:r>
          </a:p>
          <a:p>
            <a:r>
              <a:t>- https://www.donga.com/news/Economy/article/all/20251113/132765077/4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"https://www.investchosun.com/m/article.html?contid=2026042180102; https://www.bis.org/bcbs/basel3.htm",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counterpoint + BIS/국내 건전성 규제 논의. 추가 정책금융 실패 사례는 보강 필요.</a:t>
            </a:r>
          </a:p>
          <a:p>
            <a:r>
              <a:t>[내용] https://www.investchosun.com/m/article.html?contid=2026042180102</a:t>
            </a:r>
          </a:p>
          <a:p>
            <a:r>
              <a:t>[내용] https://www.bis.org/bcbs/basel3.htm</a:t>
            </a:r>
          </a:p>
          <a:p>
            <a:r>
              <a:t>[내용] https://www.donga.com/news/Economy/article/all/20251113/132765077/4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18</a:t>
            </a:r>
          </a:p>
          <a:p>
            <a:r>
              <a:t>layout_type: question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18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https://www.korea.kr/news/policyNewsView.do?newsId=148963908&amp;pWise=main&amp;pWiseMain=R3</a:t>
            </a:r>
          </a:p>
          <a:p>
            <a:r>
              <a:t>- https://www.investchosun.com/m/article.html?contid=2026042180102</a:t>
            </a:r>
          </a:p>
          <a:p>
            <a:r>
              <a:t>- https://www.korea.kr/multi/visualNewsView.do?newsId=148964200&amp;pWise=main&amp;pWiseMain=K3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"https://www.korea.kr/news/policyNewsView.do?newsId=148963908&amp;pWise=main&amp;pWiseMain=R3; https://www.investchosun.com/m/article.html?contid=2026042180102",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국민참여형 펀드 구조 + counterpoint. 수익률 전망 금지.</a:t>
            </a:r>
          </a:p>
          <a:p>
            <a:r>
              <a:t>[내용] https://www.korea.kr/news/policyNewsView.do?newsId=148963908&amp;pWise=main&amp;pWiseMain=R3</a:t>
            </a:r>
          </a:p>
          <a:p>
            <a:r>
              <a:t>[내용] https://www.investchosun.com/m/article.html?contid=2026042180102</a:t>
            </a:r>
          </a:p>
          <a:p>
            <a:r>
              <a:t>[내용] https://www.korea.kr/multi/visualNewsView.do?newsId=148964200&amp;pWise=main&amp;pWiseMain=K3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19</a:t>
            </a:r>
          </a:p>
          <a:p>
            <a:r>
              <a:t>layout_type: section_title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19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방송용 전환/질문 slide. 사실 주장으로 과확장하지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20</a:t>
            </a:r>
          </a:p>
          <a:p>
            <a:r>
              <a:t>layout_type: headline_body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20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https://www.bis.org/bcbs/basel3.htm</a:t>
            </a:r>
          </a:p>
          <a:p>
            <a:r>
              <a:t>- https://www.donga.com/news/Economy/article/all/20251113/132765077/4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"https://www.bis.org/bcbs/basel3.htm; https://www.donga.com/news/Economy/article/all/20251113/132765077/4",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[근거] BIS Basel III + 국내 인내자본 논의. 국내 감독자료 추가 확인 필요.</a:t>
            </a:r>
          </a:p>
          <a:p>
            <a:r>
              <a:t>[내용] https://www.bis.org/bcbs/basel3.htm</a:t>
            </a:r>
          </a:p>
          <a:p>
            <a:r>
              <a:t>[내용] https://www.donga.com/news/Economy/article/all/20251113/132765077/4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22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22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"Simple comparison/question diagram candidate for manual design.",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do_not_claim guardrail slide. 투자 조언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24</a:t>
            </a:r>
          </a:p>
          <a:p>
            <a:r>
              <a:t>layout_type: closing_question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24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- https://www.investchosun.com/m/article.html?contid=2026042180102</a:t>
            </a:r>
          </a:p>
          <a:p>
            <a:r>
              <a:t>- https://www.bis.org/bcbs/basel3.htm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"Manual visual placeholder; choose asset during later Piti/PPT work.",</a:t>
            </a:r>
          </a:p>
          <a:p>
            <a:r>
              <a:t>  "source_note": "https://www.fsc.go.kr/no010101/86834?curPage=2&amp;srchBeginDt=&amp;srchCtgry=&amp;srchEndDt=&amp;srchKey=&amp;srchText=; https://www.investchosun.com/m/article.html?contid=2026042180102",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[마무리] 정책 찬반이 아니라 위험분담 설계의 질문으로 닫기.</a:t>
            </a:r>
          </a:p>
          <a:p>
            <a:r>
              <a:t>[내용] https://www.fsc.go.kr/no010101/86834?curPage=2&amp;srchBeginDt=&amp;srchCtgry=&amp;srchEndDt=&amp;srchKey=&amp;srchText=</a:t>
            </a:r>
          </a:p>
          <a:p>
            <a:r>
              <a:t>[내용] https://www.investchosun.com/m/article.html?contid=2026042180102</a:t>
            </a:r>
          </a:p>
          <a:p>
            <a:r>
              <a:t>[내용] https://www.bis.org/bcbs/basel3.htm</a:t>
            </a:r>
          </a:p>
          <a:p>
            <a:r>
              <a:t>[TODO] needs_fact_check=true: claim must be manually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21</a:t>
            </a:r>
          </a:p>
          <a:p>
            <a:r>
              <a:t>layout_type: appendix_checklist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21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- https://www.korea.kr/news/policyNewsView.do?newsId=148963908&amp;pWise=main&amp;pWiseMain=R3</a:t>
            </a:r>
          </a:p>
          <a:p>
            <a:r>
              <a:t>- https://www.korea.kr/news/policyNewsView.do?newsId=148961201&amp;pWise=main&amp;pWiseMain=A4</a:t>
            </a:r>
          </a:p>
          <a:p>
            <a:r>
              <a:t>- https://www.investchosun.com/m/article.html?contid=2026042180102</a:t>
            </a:r>
          </a:p>
          <a:p>
            <a:r>
              <a:t>- https://www.bis.org/bcbs/basel3.htm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"none",</a:t>
            </a:r>
          </a:p>
          <a:p>
            <a:r>
              <a:t>  "description": "No visual required at deck-plan stage.",</a:t>
            </a:r>
          </a:p>
          <a:p>
            <a:r>
              <a:t>  "source_note": "https://www.fsc.go.kr/no010101/86834?curPage=2&amp;srchBeginDt=&amp;srchCtgry=&amp;srchEndDt=&amp;srchKey=&amp;srchText=; https://www.korea.kr/news/policyNewsView.do?newsId=148963908&amp;pWise=main&amp;pWiseMain=R3",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internal_appendix: keep out of main broadcast deck body</a:t>
            </a:r>
          </a:p>
          <a:p/>
          <a:p>
            <a:r>
              <a:t>internal_note: appendix/internal checklist, not a broadcast slide</a:t>
            </a:r>
          </a:p>
          <a:p/>
          <a:p>
            <a:r>
              <a:t>speaker_notes:</a:t>
            </a:r>
          </a:p>
          <a:p>
            <a:r>
              <a:t>[제작체크] 숫자는 공식자료 기준으로 재확인. production checklist는 본문보다 notes/appendix 성격.</a:t>
            </a:r>
          </a:p>
          <a:p>
            <a:r>
              <a:t>[내용] https://www.fsc.go.kr/no010101/86834?curPage=2&amp;srchBeginDt=&amp;srchCtgry=&amp;srchEndDt=&amp;srchKey=&amp;srchText=</a:t>
            </a:r>
          </a:p>
          <a:p>
            <a:r>
              <a:t>[내용] https://www.korea.kr/news/policyNewsView.do?newsId=148963908&amp;pWise=main&amp;pWiseMain=R3</a:t>
            </a:r>
          </a:p>
          <a:p>
            <a:r>
              <a:t>[내용] https://www.korea.kr/news/policyNewsView.do?newsId=148961201&amp;pWise=main&amp;pWiseMain=A4</a:t>
            </a:r>
          </a:p>
          <a:p>
            <a:r>
              <a:t>[내용] https://www.investchosun.com/m/article.html?contid=2026042180102</a:t>
            </a:r>
          </a:p>
          <a:p>
            <a:r>
              <a:t>[내용] https://www.bis.org/bcbs/basel3.htm</a:t>
            </a:r>
          </a:p>
          <a:p>
            <a:r>
              <a:t>[TODO] needs_fact_check=true: claim must be manually checked.</a:t>
            </a:r>
          </a:p>
          <a:p>
            <a:r>
              <a:t>[편집 메모] internal_appendix: keep out of main broadcast deck body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23</a:t>
            </a:r>
          </a:p>
          <a:p>
            <a:r>
              <a:t>layout_type: appendix_checklist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23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https://www.fsc.go.kr/no010101/86834?curPage=2&amp;srchBeginDt=&amp;srchCtgry=&amp;srchEndDt=&amp;srchKey=&amp;srchText=</a:t>
            </a:r>
          </a:p>
          <a:p>
            <a:r>
              <a:t>- https://ngf.kdb.co.kr/GFMNMN00N00.act</a:t>
            </a:r>
          </a:p>
          <a:p>
            <a:r>
              <a:t>- https://www.korea.kr/news/policyNewsView.do?newsId=148963908&amp;pWise=main&amp;pWiseMain=R3</a:t>
            </a:r>
          </a:p>
          <a:p>
            <a:r>
              <a:t>- https://www.investchosun.com/m/article.html?contid=2026042180102</a:t>
            </a:r>
          </a:p>
          <a:p>
            <a:r>
              <a:t>- https://www.bis.org/bcbs/basel3.htm</a:t>
            </a:r>
          </a:p>
          <a:p>
            <a:r>
              <a:t>- https://www.donga.com/news/Economy/article/all/20251113/132765077/4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True</a:t>
            </a:r>
          </a:p>
          <a:p>
            <a:r>
              <a:t>- needs_fact_check: True</a:t>
            </a:r>
          </a:p>
          <a:p>
            <a:r>
              <a:t>- required_before_broadcast: True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"none",</a:t>
            </a:r>
          </a:p>
          <a:p>
            <a:r>
              <a:t>  "description": "No visual required at deck-plan stage.",</a:t>
            </a:r>
          </a:p>
          <a:p>
            <a:r>
              <a:t>  "source_note": "https://www.fsc.go.kr/no010101/86834?curPage=2&amp;srchBeginDt=&amp;srchCtgry=&amp;srchEndDt=&amp;srchKey=&amp;srchText=; https://ngf.kdb.co.kr/GFMNMN00N00.act",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internal_appendix: keep out of main broadcast deck body</a:t>
            </a:r>
          </a:p>
          <a:p/>
          <a:p>
            <a:r>
              <a:t>internal_note: appendix/internal checklist, not a broadcast slide</a:t>
            </a:r>
          </a:p>
          <a:p/>
          <a:p>
            <a:r>
              <a:t>speaker_notes:</a:t>
            </a:r>
          </a:p>
          <a:p>
            <a:r>
              <a:t>[제작체크] enriched dry run 후에도 방송 전 수동 검증 필요.</a:t>
            </a:r>
          </a:p>
          <a:p>
            <a:r>
              <a:t>[내용] https://www.fsc.go.kr/no010101/86834?curPage=2&amp;srchBeginDt=&amp;srchCtgry=&amp;srchEndDt=&amp;srchKey=&amp;srchText=</a:t>
            </a:r>
          </a:p>
          <a:p>
            <a:r>
              <a:t>[내용] https://ngf.kdb.co.kr/GFMNMN00N00.act</a:t>
            </a:r>
          </a:p>
          <a:p>
            <a:r>
              <a:t>[내용] https://www.korea.kr/news/policyNewsView.do?newsId=148963908&amp;pWise=main&amp;pWiseMain=R3</a:t>
            </a:r>
          </a:p>
          <a:p>
            <a:r>
              <a:t>[내용] https://www.investchosun.com/m/article.html?contid=2026042180102</a:t>
            </a:r>
          </a:p>
          <a:p>
            <a:r>
              <a:t>[내용] https://www.bis.org/bcbs/basel3.htm</a:t>
            </a:r>
          </a:p>
          <a:p>
            <a:r>
              <a:t>[내용] https://www.donga.com/news/Economy/article/all/20251113/132765077/4</a:t>
            </a:r>
          </a:p>
          <a:p>
            <a:r>
              <a:t>[TODO] needs_source=true: source must be added or verified.</a:t>
            </a:r>
          </a:p>
          <a:p>
            <a:r>
              <a:t>[TODO] needs_fact_check=true: claim must be manually checked.</a:t>
            </a:r>
          </a:p>
          <a:p>
            <a:r>
              <a:t>[편집 메모] internal_appendix: keep out of main broadcast deck body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6792" y="1122883"/>
            <a:ext cx="10478109" cy="2387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0000"/>
                </a:solidFill>
                <a:latin typeface="맑은 고딕"/>
              </a:rPr>
              <a:t>생산적 금융과 정책자금 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8232" y="3043123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금융은 안전하게 돈을 빌려주는 산업인가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아니면 성장 위험을 나눠지는 산업인가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draft skeleton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72453" y="1952243"/>
            <a:ext cx="3709720" cy="523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0000"/>
                </a:solidFill>
                <a:latin typeface="맑은 고딕"/>
              </a:rPr>
              <a:t>금융위원장이 던진 질문 하나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795320"/>
            <a:ext cx="6766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“담보 및 단기수익 중심 금융 경쟁은 앞서가기 어렵다”는 문제 제기가 나왔다.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금융위원회 공식자료는 국민성장펀드가 5년간 150조 원, 2026년 30조 원 규모로 첨단산업 생태계에 자금을 공급하는 틀이라고 설명한다.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다만 이 발언과 정책 숫자가 곧 정책 성공을 뜻하는 것은 아니다.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8458200" y="4389120"/>
            <a:ext cx="25603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566070"/>
                </a:solidFill>
                <a:latin typeface="맑은 고딕"/>
              </a:rPr>
              <a:t>[수동 삽입]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needs_fact_check | before_broadcast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411480"/>
            <a:ext cx="6720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0000"/>
                </a:solidFill>
                <a:latin typeface="맑은 고딕"/>
              </a:rPr>
              <a:t>은행 입장에서는 담보가 제일 편하다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2414" y="1208836"/>
            <a:ext cx="6720840" cy="1302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돈을 빌려줄 때 가장 쉬운 질문은 “담보가 있나?”다.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은행은 자본규제와 위험가중자산을 고려해야 하므로, 위험한 자산을 무한정 늘릴 수 없다.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그래서 장기 위험자본 논의는 은행의 본능을 비난하는 문제가 아니라 금융 시스템의 설계 문제에 가깝다.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1000" y="1572768"/>
            <a:ext cx="3337560" cy="361188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566070"/>
                </a:solidFill>
                <a:latin typeface="맑은 고딕"/>
              </a:rPr>
              <a:t>[수동 삽입]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needs_fact_check | before_broadcast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0000"/>
                </a:solidFill>
                <a:latin typeface="맑은 고딕"/>
              </a:rPr>
              <a:t>그런데 AI 산업은 담보보다 시간이 먼저 필요하다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AI와 반도체는 소프트웨어 개발비만의 문제가 아니라 설비, 전력, 공정, 인력, 공급망이 함께 필요한 산업이다.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정책자료는 국민성장펀드가 AI·반도체 같은 첨단전략산업에 장기 자금을 공급하려는 틀이라고 설명한다.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그래서 이 이야기는 “대출을 늘리자”보다 “누가 긴 위험을 나눌 것인가”에 가깝다.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needs_fact_check | before_broadcast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0000"/>
                </a:solidFill>
                <a:latin typeface="맑은 고딕"/>
              </a:rPr>
              <a:t>금융은 원래 안전해야 하는가, 위험을 져야 하는가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너무 안전하면 성장산업이 돈을 못 받는다.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너무 위험하면 결국 손실을 누가 떠안느냐는 문제가 생긴다.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이 사이의 균형이 정책금융 논쟁의 본론이다.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draft skeleton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3991" y="1273759"/>
            <a:ext cx="10752429" cy="2424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181C23"/>
                </a:solidFill>
                <a:latin typeface="맑은 고딕"/>
              </a:rPr>
              <a:t>AI·반도체 투자와 장기 위험자본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3991" y="2508199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draft skeleton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411480"/>
            <a:ext cx="6720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0000"/>
                </a:solidFill>
                <a:latin typeface="맑은 고딕"/>
              </a:rPr>
              <a:t>AI가 소프트웨어만의 문제가 아니게 된 순간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2414" y="1208836"/>
            <a:ext cx="6720840" cy="1302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AI는 모델만으로 돌아가지 않는다.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반도체, 전력망, 데이터센터, 장비, 소재가 함께 필요하다.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공식자료가 “인내자본”을 말하는 이유도 이 산업이 긴 회수 기간과 대규모 선투자를 요구하기 때문이다.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1000" y="1572768"/>
            <a:ext cx="3337560" cy="361188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566070"/>
                </a:solidFill>
                <a:latin typeface="맑은 고딕"/>
              </a:rPr>
              <a:t>[수동 삽입]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needs_fact_check | before_broadcast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0000"/>
                </a:solidFill>
                <a:latin typeface="맑은 고딕"/>
              </a:rPr>
              <a:t>장기 투자에는 기다릴 수 있는 돈이 필요하다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72414" y="1162202"/>
            <a:ext cx="1119317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566070"/>
                </a:solidFill>
                <a:latin typeface="맑은 고딕"/>
              </a:rPr>
              <a:t>[차트 후보]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2414" y="3311042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첨단산업 투자는 회수 기간이 길고 실패 가능성도 크다.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정부는 국민성장펀드를 통해 장기 자금을 공급하겠다고 설명하지만, 그 자체가 수익을 보장한다는 말은 아니다.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여기서 “장기 위험자본”이라는 말은 가능성과 손실 가능성을 함께 본다는 뜻이다.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needs_fact_check | before_broadcast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0000"/>
                </a:solidFill>
                <a:latin typeface="맑은 고딕"/>
              </a:rPr>
              <a:t>부동산 담보는 보이지만, 기술의 미래는 잘 안 보인다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5257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72200" y="1600200"/>
            <a:ext cx="5257800" cy="4069080"/>
          </a:xfrm>
          <a:prstGeom prst="rect">
            <a:avLst/>
          </a:prstGeom>
          <a:solidFill>
            <a:srgbClr val="EFF6F7"/>
          </a:solidFill>
          <a:ln w="12700">
            <a:solidFill>
              <a:srgbClr val="AAC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공장, 토지, 건물은 담보로 잡기 쉽다.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하지만 초기 기술, 인력, 데이터, 공정 노하우는 평가하기 어렵다.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74519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위험가중자산과 자본규제가 있는 은행 입장에서는 이런 불확실성이 비용이 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needs_fact_check | before_broadcast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0000"/>
                </a:solidFill>
                <a:latin typeface="맑은 고딕"/>
              </a:rPr>
              <a:t>그래서 정책금융은 시장이 못 보는 시간을 보겠다는 말일 수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정책금융의 명분은 민간이 감당하기 어려운 초기 위험을 나눠지는 것이다.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하지만 정책자금이 늘 좋은 결과를 만든다고 단정할 수는 없다.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정책금융은 성장의 마중물일 수도, 손실의 통로일 수도 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needs_fact_check | before_broadcast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0000"/>
                </a:solidFill>
                <a:latin typeface="맑은 고딕"/>
              </a:rPr>
              <a:t>이건 “은행이 더 착해져야 한다”는 얘기가 아니다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FF0000"/>
                </a:solidFill>
                <a:latin typeface="맑은 고딕"/>
              </a:rPr>
              <a:t>은행은 예금자의 돈을 지켜야 한다.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FF0000"/>
                </a:solidFill>
                <a:latin typeface="맑은 고딕"/>
              </a:rPr>
              <a:t>기업은 긴 투자금을 원한다.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FF0000"/>
                </a:solidFill>
                <a:latin typeface="맑은 고딕"/>
              </a:rPr>
              <a:t>국가는 전략산업을 키우고 싶다.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FF0000"/>
                </a:solidFill>
                <a:latin typeface="맑은 고딕"/>
              </a:rPr>
              <a:t>세 이해관계가 한 지점에서 충돌한다.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draft skeleton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3991" y="1273759"/>
            <a:ext cx="10752429" cy="2424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181C23"/>
                </a:solidFill>
                <a:latin typeface="맑은 고딕"/>
              </a:rPr>
              <a:t>국민성장펀드와 정책금융 논쟁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3991" y="2508199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draft skeleton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72453" y="1952243"/>
            <a:ext cx="3709720" cy="523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0000"/>
                </a:solidFill>
                <a:latin typeface="맑은 고딕"/>
              </a:rPr>
              <a:t>국민성장펀드라는 이름이 붙으면 이야기는 더 어려워진다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795320"/>
            <a:ext cx="6766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국민성장펀드는 민관합동 150조 원 규모로 첨단전략산업 생태계를 지원하겠다는 정책 틀이다.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국민참여형 펀드는 일반 국민 자금도 일부 모아 자펀드에 투자하는 구조로 설계됐다.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그래서 이름은 성장 이야기지만, 실제 방송에서는 투자자 리스크와 정책 책임을 함께 봐야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8458200" y="4389120"/>
            <a:ext cx="25603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566070"/>
                </a:solidFill>
                <a:latin typeface="맑은 고딕"/>
              </a:rPr>
              <a:t>[수동 삽입]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needs_fact_check | before_broadcast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411480"/>
            <a:ext cx="6720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0000"/>
                </a:solidFill>
                <a:latin typeface="맑은 고딕"/>
              </a:rPr>
              <a:t>위험을 나눈다는 말은 손실 가능성도 나눈다는 뜻이다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2414" y="1208836"/>
            <a:ext cx="6720840" cy="1302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국민참여형 펀드 자료는 재정이 각 자펀드에서 20% 범위의 손실을 우선 부담하는 구조를 설명한다.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이 장치는 투자자의 위험을 낮추려는 설계지만, 원금 손실 가능성이 사라진다는 뜻은 아니다.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손실을 누가, 어떤 순서로, 어디까지 부담하는지가 핵심 질문이다.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1000" y="1572768"/>
            <a:ext cx="3337560" cy="361188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566070"/>
                </a:solidFill>
                <a:latin typeface="맑은 고딕"/>
              </a:rPr>
              <a:t>[수동 삽입]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needs_fact_check | before_broadcast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2414" y="757123"/>
            <a:ext cx="7843723" cy="310896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2414" y="940003"/>
            <a:ext cx="729508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0000"/>
                </a:solidFill>
                <a:latin typeface="맑은 고딕"/>
              </a:rPr>
              <a:t>정책금융의 어려움은 “누가 먼저 잃을 것인가”다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2414" y="2174443"/>
            <a:ext cx="729508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정책금융의 어려움은 “돈을 넣을 것인가”보다 “손실이 나면 누가 먼저 감당할 것인가”다.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공식자료는 후순위 재정 보강을 설명하지만, 반대 관점은 손실 보전과 관제상품화 논란을 제기한다.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이 둘을 같이 봐야 정책금융 논쟁이 단순 찬반으로 흐르지 않는다.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needs_fact_check | before_broadcast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0000"/>
                </a:solidFill>
                <a:latin typeface="맑은 고딕"/>
              </a:rPr>
              <a:t>성장산업을 돕는 것과 특정 기업을 밀어주는 것은 다르다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5257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72200" y="1600200"/>
            <a:ext cx="5257800" cy="4069080"/>
          </a:xfrm>
          <a:prstGeom prst="rect">
            <a:avLst/>
          </a:prstGeom>
          <a:solidFill>
            <a:srgbClr val="EFF6F7"/>
          </a:solidFill>
          <a:ln w="12700">
            <a:solidFill>
              <a:srgbClr val="AAC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공식자료는 AI, 반도체, 이차전지 등 첨단전략산업을 넓은 지원 대상으로 제시한다.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하지만 방송에서는 이것이 특정 기업 성공 보장이나 특정 상품 추천처럼 들리면 안 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74519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성장산업 지원과 특정 기업 밀어주기는 구분해서 다뤄야 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needs_fact_check | before_broadcast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0000"/>
                </a:solidFill>
                <a:latin typeface="맑은 고딕"/>
              </a:rPr>
              <a:t>반대쪽 질문도 있다: 그럼 아무도 위험을 안 지면 어떻게 하나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5257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72200" y="1600200"/>
            <a:ext cx="5257800" cy="4069080"/>
          </a:xfrm>
          <a:prstGeom prst="rect">
            <a:avLst/>
          </a:prstGeom>
          <a:solidFill>
            <a:srgbClr val="EFF6F7"/>
          </a:solidFill>
          <a:ln w="12700">
            <a:solidFill>
              <a:srgbClr val="AAC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반대쪽 질문도 있다. 재정이 위험을 먼저 떠안으면 민간은 얼마나 책임 있게 투자할까.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또 은행과 금융회사는 건전성 규제, 위험가중자산, 예금자 보호 논리 안에서 움직인다.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74519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그래서 아무도 위험을 안 지는 문제와, 누군가에게 위험을 떠넘기는 문제를 동시에 봐야 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needs_fact_check | before_broadcast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0000"/>
                </a:solidFill>
                <a:latin typeface="맑은 고딕"/>
              </a:rPr>
              <a:t>결국 질문은 성장의 과실보다 위험의 배분이다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성장의 과실을 함께 나누자는 말은 듣기 좋다.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하지만 위험도 함께 나눠야 한다면, 손실이 발생했을 때 재정·운용사·투자자·금융권의 책임선이 중요해진다.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국민성장펀드 이야기는 결국 수익보다 위험 배분의 설계로 읽어야 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needs_fact_check | before_broadcast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3991" y="1273759"/>
            <a:ext cx="10752429" cy="2424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181C23"/>
                </a:solidFill>
                <a:latin typeface="맑은 고딕"/>
              </a:rPr>
              <a:t>금융권은 어디까지 위험을 나눌 수 있는가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3991" y="2508199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draft skeleton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411480"/>
            <a:ext cx="6720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0000"/>
                </a:solidFill>
                <a:latin typeface="맑은 고딕"/>
              </a:rPr>
              <a:t>금융권에 “성장에 베팅하라”고 말하는 순간 생기는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2414" y="1208836"/>
            <a:ext cx="6720840" cy="1302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금융권에 성장산업 투자를 요구하면 곧바로 건전성 문제가 따라온다.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위험가중자산이 커지면 자본 부담도 커질 수 있고, 예금자 보호 논리와도 충돌할 수 있다.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0000"/>
                </a:solidFill>
                <a:latin typeface="맑은 고딕"/>
              </a:rPr>
              <a:t>따라서 생산적 금융은 구호가 아니라 자본규제와 위험분담 설계의 문제다.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1000" y="1572768"/>
            <a:ext cx="3337560" cy="361188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566070"/>
                </a:solidFill>
                <a:latin typeface="맑은 고딕"/>
              </a:rPr>
              <a:t>[수동 삽입]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needs_fact_check | before_broadcast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0000"/>
                </a:solidFill>
                <a:latin typeface="맑은 고딕"/>
              </a:rPr>
              <a:t>투자 이야기로 들리지 않게 조심해야 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00200"/>
            <a:ext cx="5257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72200" y="1600200"/>
            <a:ext cx="5257800" cy="4069080"/>
          </a:xfrm>
          <a:prstGeom prst="rect">
            <a:avLst/>
          </a:prstGeom>
          <a:solidFill>
            <a:srgbClr val="EFF6F7"/>
          </a:solidFill>
          <a:ln w="12700">
            <a:solidFill>
              <a:srgbClr val="AAC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이 주제는 곧바로 특정 산업·기업·펀드 투자 판단처럼 보일 수 있다.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그래서 수익률, 주가, 매수·매도, 유망종목식 표현은 피해야 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74519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핵심은 투자 추천이 아니라 위험을 누가 나누느냐는 제도 설계다.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draft skeleton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0000"/>
                </a:solidFill>
                <a:latin typeface="맑은 고딕"/>
              </a:rPr>
              <a:t>금융은 위험을 피하는 기술인가, 좋은 위험을 고르는 기술인가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생산적 금융의 질문은 “정부 정책이 맞다/틀리다”가 아니다.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좋은 위험을 고르는 능력, 손실을 나누는 규칙, 금융권 건전성을 함께 설계할 수 있느냐는 질문이다.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FF0000"/>
                </a:solidFill>
                <a:latin typeface="맑은 고딕"/>
              </a:rPr>
              <a:t>국민성장펀드는 그 질문을 보여주는 한 사례일 뿐, 성공을 단정할 수는 없다.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needs_fact_check | before_broadcast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95751" y="3058668"/>
            <a:ext cx="3383280" cy="523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F6F24"/>
                </a:solidFill>
                <a:latin typeface="맑은 고딕"/>
              </a:rPr>
              <a:t>[내부 체크리스트] 이 부분은 아직 숫자가 필요하다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10304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81C23"/>
                </a:solidFill>
                <a:latin typeface="맑은 고딕"/>
              </a:rPr>
              <a:t>방송 전 숫자 체크리스트: 150조 원 전체 규모, 2026년 30조 원 운용, 국민참여형 6000억 원, 재정 1200억 원, 손실 우선 부담 20% 범위.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81C23"/>
                </a:solidFill>
                <a:latin typeface="맑은 고딕"/>
              </a:rPr>
              <a:t>정책 효과가 아니라 구조를 설명하는 숫자로만 사용한다.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81C23"/>
                </a:solidFill>
                <a:latin typeface="맑은 고딕"/>
              </a:rPr>
              <a:t>추가로 정책금융 실패 사례와 은행 건전성 자료를 더 확인하면 완성도가 올라간다.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needs_fact_check | before_broadcast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95751" y="3058668"/>
            <a:ext cx="3383280" cy="523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F6F24"/>
                </a:solidFill>
                <a:latin typeface="맑은 고딕"/>
              </a:rPr>
              <a:t>[내부 체크리스트] 방송 전 꼭 채워야 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10304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맑은 고딕"/>
              </a:rPr>
              <a:t>방송 전 꼭 채워야 할 자료: 금융위/산은 공식 원문, 국민참여형 펀드 손실분담 구조, AI·반도체 장기 투자 규모, 관치금융/정책금융 실패 반론, 은행 건전성·위험가중자산 자료.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81C23"/>
                </a:solidFill>
                <a:latin typeface="맑은 고딕"/>
              </a:rPr>
              <a:t>지금 evidence pack은 enriched dry run에는 충분하지만, 방송용 완성본에는 추가 counterpoint가 필요하다.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66070"/>
                </a:solidFill>
                <a:latin typeface="맑은 고딕"/>
              </a:rPr>
              <a:t>needs_source | needs_fact_check | before_broadcast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66070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